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media/image64.jpg" ContentType="image/jpg"/>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1"/>
  </p:sldMasterIdLst>
  <p:notesMasterIdLst>
    <p:notesMasterId r:id="rId71"/>
  </p:notesMasterIdLst>
  <p:handoutMasterIdLst>
    <p:handoutMasterId r:id="rId72"/>
  </p:handoutMasterIdLst>
  <p:sldIdLst>
    <p:sldId id="5564" r:id="rId2"/>
    <p:sldId id="5590" r:id="rId3"/>
    <p:sldId id="5591" r:id="rId4"/>
    <p:sldId id="5592" r:id="rId5"/>
    <p:sldId id="5617" r:id="rId6"/>
    <p:sldId id="5594" r:id="rId7"/>
    <p:sldId id="5618" r:id="rId8"/>
    <p:sldId id="5619" r:id="rId9"/>
    <p:sldId id="5620" r:id="rId10"/>
    <p:sldId id="5621" r:id="rId11"/>
    <p:sldId id="5622" r:id="rId12"/>
    <p:sldId id="5623" r:id="rId13"/>
    <p:sldId id="5624" r:id="rId14"/>
    <p:sldId id="5625" r:id="rId15"/>
    <p:sldId id="5627" r:id="rId16"/>
    <p:sldId id="5628" r:id="rId17"/>
    <p:sldId id="5629" r:id="rId18"/>
    <p:sldId id="5752" r:id="rId19"/>
    <p:sldId id="5753" r:id="rId20"/>
    <p:sldId id="5754" r:id="rId21"/>
    <p:sldId id="5755" r:id="rId22"/>
    <p:sldId id="5756" r:id="rId23"/>
    <p:sldId id="5757" r:id="rId24"/>
    <p:sldId id="5631" r:id="rId25"/>
    <p:sldId id="5630" r:id="rId26"/>
    <p:sldId id="5728" r:id="rId27"/>
    <p:sldId id="5729" r:id="rId28"/>
    <p:sldId id="5730" r:id="rId29"/>
    <p:sldId id="5731" r:id="rId30"/>
    <p:sldId id="5732" r:id="rId31"/>
    <p:sldId id="5733" r:id="rId32"/>
    <p:sldId id="5734" r:id="rId33"/>
    <p:sldId id="5735" r:id="rId34"/>
    <p:sldId id="5736" r:id="rId35"/>
    <p:sldId id="5737" r:id="rId36"/>
    <p:sldId id="5738" r:id="rId37"/>
    <p:sldId id="5739" r:id="rId38"/>
    <p:sldId id="5740" r:id="rId39"/>
    <p:sldId id="5741" r:id="rId40"/>
    <p:sldId id="5742" r:id="rId41"/>
    <p:sldId id="5632" r:id="rId42"/>
    <p:sldId id="5717" r:id="rId43"/>
    <p:sldId id="5665" r:id="rId44"/>
    <p:sldId id="5726" r:id="rId45"/>
    <p:sldId id="5725" r:id="rId46"/>
    <p:sldId id="5718" r:id="rId47"/>
    <p:sldId id="5719" r:id="rId48"/>
    <p:sldId id="5720" r:id="rId49"/>
    <p:sldId id="5743" r:id="rId50"/>
    <p:sldId id="5721" r:id="rId51"/>
    <p:sldId id="5722" r:id="rId52"/>
    <p:sldId id="5723" r:id="rId53"/>
    <p:sldId id="5724" r:id="rId54"/>
    <p:sldId id="5727" r:id="rId55"/>
    <p:sldId id="5744" r:id="rId56"/>
    <p:sldId id="5745" r:id="rId57"/>
    <p:sldId id="5758" r:id="rId58"/>
    <p:sldId id="5746" r:id="rId59"/>
    <p:sldId id="5747" r:id="rId60"/>
    <p:sldId id="5759" r:id="rId61"/>
    <p:sldId id="5760" r:id="rId62"/>
    <p:sldId id="5761" r:id="rId63"/>
    <p:sldId id="5762" r:id="rId64"/>
    <p:sldId id="5763" r:id="rId65"/>
    <p:sldId id="5764" r:id="rId66"/>
    <p:sldId id="5749" r:id="rId67"/>
    <p:sldId id="5750" r:id="rId68"/>
    <p:sldId id="5751" r:id="rId69"/>
    <p:sldId id="5616" r:id="rId70"/>
  </p:sldIdLst>
  <p:sldSz cx="12192000" cy="6858000"/>
  <p:notesSz cx="6797675" cy="9926638"/>
  <p:custDataLst>
    <p:tags r:id="rId7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D53D7"/>
    <a:srgbClr val="D1D7DA"/>
    <a:srgbClr val="EF0000"/>
    <a:srgbClr val="9DAFCC"/>
    <a:srgbClr val="4B5669"/>
    <a:srgbClr val="FFFFFF"/>
    <a:srgbClr val="2D76AD"/>
    <a:srgbClr val="215983"/>
    <a:srgbClr val="3D8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6" autoAdjust="0"/>
    <p:restoredTop sz="86765" autoAdjust="0"/>
  </p:normalViewPr>
  <p:slideViewPr>
    <p:cSldViewPr snapToObjects="1" showGuides="1">
      <p:cViewPr varScale="1">
        <p:scale>
          <a:sx n="114" d="100"/>
          <a:sy n="114" d="100"/>
        </p:scale>
        <p:origin x="360"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50" d="100"/>
        <a:sy n="150" d="100"/>
      </p:scale>
      <p:origin x="0" y="0"/>
    </p:cViewPr>
  </p:sorterViewPr>
  <p:notesViewPr>
    <p:cSldViewPr snapToObjects="1" showGuides="1">
      <p:cViewPr varScale="1">
        <p:scale>
          <a:sx n="79" d="100"/>
          <a:sy n="79" d="100"/>
        </p:scale>
        <p:origin x="3900"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14.03.2023</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dirty="0"/>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14.03.2023</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0"/>
          </p:nvPr>
        </p:nvSpPr>
        <p:spPr/>
        <p:txBody>
          <a:bodyPr/>
          <a:lstStyle/>
          <a:p>
            <a:fld id="{B280112D-8454-448C-8A04-1F3237E367D5}" type="slidenum">
              <a:rPr lang="de-DE" smtClean="0"/>
              <a:pPr/>
              <a:t>1</a:t>
            </a:fld>
            <a:endParaRPr lang="de-DE" dirty="0"/>
          </a:p>
        </p:txBody>
      </p:sp>
      <p:sp>
        <p:nvSpPr>
          <p:cNvPr id="6" name="Datumsplatzhalter 5"/>
          <p:cNvSpPr>
            <a:spLocks noGrp="1"/>
          </p:cNvSpPr>
          <p:nvPr>
            <p:ph type="dt" idx="11"/>
          </p:nvPr>
        </p:nvSpPr>
        <p:spPr/>
        <p:txBody>
          <a:bodyPr/>
          <a:lstStyle/>
          <a:p>
            <a:fld id="{205C729D-E78E-4966-9400-1CAB7A9827B3}" type="datetime1">
              <a:rPr lang="de-DE" smtClean="0"/>
              <a:pPr/>
              <a:t>14.03.2023</a:t>
            </a:fld>
            <a:endParaRPr lang="de-DE"/>
          </a:p>
        </p:txBody>
      </p:sp>
      <p:sp>
        <p:nvSpPr>
          <p:cNvPr id="7" name="Fußzeilenplatzhalter 6"/>
          <p:cNvSpPr>
            <a:spLocks noGrp="1"/>
          </p:cNvSpPr>
          <p:nvPr>
            <p:ph type="ftr" sz="quarter" idx="12"/>
          </p:nvPr>
        </p:nvSpPr>
        <p:spPr/>
        <p:txBody>
          <a:bodyPr/>
          <a:lstStyle/>
          <a:p>
            <a:r>
              <a:rPr lang="de-DE"/>
              <a:t>Text der Fußzeile</a:t>
            </a:r>
          </a:p>
        </p:txBody>
      </p:sp>
      <p:sp>
        <p:nvSpPr>
          <p:cNvPr id="20" name="Folienbildplatzhalter 19"/>
          <p:cNvSpPr>
            <a:spLocks noGrp="1" noRot="1" noChangeAspect="1"/>
          </p:cNvSpPr>
          <p:nvPr>
            <p:ph type="sldImg"/>
          </p:nvPr>
        </p:nvSpPr>
        <p:spPr>
          <a:xfrm>
            <a:off x="0" y="0"/>
            <a:ext cx="6796088" cy="3822700"/>
          </a:xfrm>
        </p:spPr>
      </p:sp>
      <p:sp>
        <p:nvSpPr>
          <p:cNvPr id="21" name="Notizenplatzhalter 20"/>
          <p:cNvSpPr>
            <a:spLocks noGrp="1"/>
          </p:cNvSpPr>
          <p:nvPr>
            <p:ph type="body" idx="1"/>
          </p:nvPr>
        </p:nvSpPr>
        <p:spPr/>
        <p:txBody>
          <a:bodyPr/>
          <a:lstStyle/>
          <a:p>
            <a:endParaRPr lang="de-DE"/>
          </a:p>
        </p:txBody>
      </p:sp>
    </p:spTree>
    <p:extLst>
      <p:ext uri="{BB962C8B-B14F-4D97-AF65-F5344CB8AC3E}">
        <p14:creationId xmlns:p14="http://schemas.microsoft.com/office/powerpoint/2010/main" val="2663758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24</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725001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26</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411490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27</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486102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28</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4023946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29</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866962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30</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306683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31</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92906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32</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839656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33</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031810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34</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936413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35</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552203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36</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897619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37</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749274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38</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73649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39</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438493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This is when the XAE crashed on us.</a:t>
            </a:r>
          </a:p>
        </p:txBody>
      </p:sp>
      <p:sp>
        <p:nvSpPr>
          <p:cNvPr id="4" name="Slide Number Placeholder 3"/>
          <p:cNvSpPr>
            <a:spLocks noGrp="1"/>
          </p:cNvSpPr>
          <p:nvPr>
            <p:ph type="sldNum" sz="quarter" idx="5"/>
          </p:nvPr>
        </p:nvSpPr>
        <p:spPr/>
        <p:txBody>
          <a:bodyPr/>
          <a:lstStyle/>
          <a:p>
            <a:fld id="{B280112D-8454-448C-8A04-1F3237E367D5}" type="slidenum">
              <a:rPr lang="de-DE" smtClean="0"/>
              <a:pPr/>
              <a:t>40</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890440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41</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2319279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280112D-8454-448C-8A04-1F3237E367D5}" type="slidenum">
              <a:rPr lang="de-DE" smtClean="0"/>
              <a:pPr/>
              <a:t>44</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14.03.2023</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1982740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en-US" noProof="0"/>
              <a:t>Click to edit Master title style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dirty="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2652052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05187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37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TwinCAT</a:t>
            </a:r>
            <a:r>
              <a:rPr lang="de-DE" sz="1200" b="0" i="0" dirty="0">
                <a:solidFill>
                  <a:srgbClr val="111111"/>
                </a:solidFill>
                <a:effectLst/>
                <a:latin typeface="+mj-lt"/>
              </a:rPr>
              <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info@beckhoff.de</a:t>
            </a:r>
          </a:p>
          <a:p>
            <a:pPr>
              <a:buFont typeface="Wingdings" panose="05000000000000000000" pitchFamily="2" charset="2"/>
              <a:buNone/>
            </a:pPr>
            <a:r>
              <a:rPr lang="de-DE" altLang="de-DE" sz="1600" noProof="0" dirty="0"/>
              <a:t>Web:	www.beckhoff.de</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322070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828" r:id="rId4"/>
    <p:sldLayoutId id="2147483798" r:id="rId5"/>
    <p:sldLayoutId id="2147483713" r:id="rId6"/>
    <p:sldLayoutId id="2147483714" r:id="rId7"/>
    <p:sldLayoutId id="2147483717" r:id="rId8"/>
    <p:sldLayoutId id="2147483800" r:id="rId9"/>
    <p:sldLayoutId id="2147483715" r:id="rId10"/>
    <p:sldLayoutId id="2147483716" r:id="rId11"/>
    <p:sldLayoutId id="2147483720" r:id="rId12"/>
    <p:sldLayoutId id="2147483813" r:id="rId13"/>
    <p:sldLayoutId id="2147483814" r:id="rId14"/>
    <p:sldLayoutId id="2147483825" r:id="rId15"/>
    <p:sldLayoutId id="2147483816" r:id="rId16"/>
    <p:sldLayoutId id="2147483815" r:id="rId17"/>
    <p:sldLayoutId id="2147483820" r:id="rId18"/>
    <p:sldLayoutId id="2147483821" r:id="rId19"/>
    <p:sldLayoutId id="2147483822" r:id="rId20"/>
    <p:sldLayoutId id="2147483819" r:id="rId21"/>
    <p:sldLayoutId id="2147483817" r:id="rId22"/>
    <p:sldLayoutId id="2147483818" r:id="rId23"/>
    <p:sldLayoutId id="2147483829" r:id="rId24"/>
    <p:sldLayoutId id="2147483824" r:id="rId25"/>
    <p:sldLayoutId id="2147483826" r:id="rId26"/>
    <p:sldLayoutId id="2147483827"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5.xml"/><Relationship Id="rId4" Type="http://schemas.openxmlformats.org/officeDocument/2006/relationships/image" Target="../media/image64.jpg"/></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5.xml"/><Relationship Id="rId4" Type="http://schemas.openxmlformats.org/officeDocument/2006/relationships/image" Target="../media/image79.png"/></Relationships>
</file>

<file path=ppt/slides/_rels/slide5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5.xml"/><Relationship Id="rId4" Type="http://schemas.openxmlformats.org/officeDocument/2006/relationships/image" Target="../media/image82.png"/></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5.xml"/><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8.png"/><Relationship Id="rId1" Type="http://schemas.openxmlformats.org/officeDocument/2006/relationships/slideLayout" Target="../slideLayouts/slideLayout5.xml"/><Relationship Id="rId4" Type="http://schemas.openxmlformats.org/officeDocument/2006/relationships/image" Target="../media/image87.png"/></Relationships>
</file>

<file path=ppt/slides/_rels/slide6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8.png"/><Relationship Id="rId1" Type="http://schemas.openxmlformats.org/officeDocument/2006/relationships/slideLayout" Target="../slideLayouts/slideLayout5.xml"/><Relationship Id="rId5" Type="http://schemas.openxmlformats.org/officeDocument/2006/relationships/image" Target="../media/image89.png"/><Relationship Id="rId4" Type="http://schemas.openxmlformats.org/officeDocument/2006/relationships/image" Target="../media/image94.png"/></Relationships>
</file>

<file path=ppt/slides/_rels/slide6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Multisettings Training Lab</a:t>
            </a:r>
          </a:p>
        </p:txBody>
      </p:sp>
    </p:spTree>
    <p:extLst>
      <p:ext uri="{BB962C8B-B14F-4D97-AF65-F5344CB8AC3E}">
        <p14:creationId xmlns:p14="http://schemas.microsoft.com/office/powerpoint/2010/main" val="1245627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C457F64-BC99-B2A6-9C98-27751DB47CB9}"/>
              </a:ext>
            </a:extLst>
          </p:cNvPr>
          <p:cNvSpPr>
            <a:spLocks noGrp="1"/>
          </p:cNvSpPr>
          <p:nvPr>
            <p:ph type="body" sz="quarter" idx="15"/>
          </p:nvPr>
        </p:nvSpPr>
        <p:spPr>
          <a:xfrm>
            <a:off x="3" y="1090799"/>
            <a:ext cx="9143997" cy="5331600"/>
          </a:xfrm>
        </p:spPr>
        <p:txBody>
          <a:bodyPr/>
          <a:lstStyle/>
          <a:p>
            <a:pPr>
              <a:buFont typeface="Arial" panose="020B0604020202020204" pitchFamily="34" charset="0"/>
              <a:buChar char="•"/>
            </a:pPr>
            <a:r>
              <a:rPr lang="en-US" dirty="0"/>
              <a:t>Base Project Preparation</a:t>
            </a:r>
          </a:p>
          <a:p>
            <a:pPr lvl="1">
              <a:buFont typeface="Arial" panose="020B0604020202020204" pitchFamily="34" charset="0"/>
              <a:buChar char="•"/>
            </a:pPr>
            <a:r>
              <a:rPr lang="en-US" dirty="0"/>
              <a:t>Create a new XAE solution</a:t>
            </a:r>
          </a:p>
          <a:p>
            <a:pPr lvl="1">
              <a:buFont typeface="Arial" panose="020B0604020202020204" pitchFamily="34" charset="0"/>
              <a:buChar char="•"/>
            </a:pPr>
            <a:r>
              <a:rPr lang="en-US" dirty="0"/>
              <a:t>Connect to your CX</a:t>
            </a:r>
          </a:p>
          <a:p>
            <a:pPr lvl="1">
              <a:buFont typeface="Arial" panose="020B0604020202020204" pitchFamily="34" charset="0"/>
              <a:buChar char="•"/>
            </a:pPr>
            <a:r>
              <a:rPr lang="en-US" dirty="0"/>
              <a:t>Scan in your test hardware</a:t>
            </a:r>
          </a:p>
          <a:p>
            <a:pPr lvl="1">
              <a:buFont typeface="Arial" panose="020B0604020202020204" pitchFamily="34" charset="0"/>
              <a:buChar char="•"/>
            </a:pPr>
            <a:r>
              <a:rPr lang="en-US" dirty="0"/>
              <a:t>Configure both AX8000s with Drive Manager 2</a:t>
            </a:r>
          </a:p>
          <a:p>
            <a:pPr lvl="2">
              <a:buFont typeface="Arial" panose="020B0604020202020204" pitchFamily="34" charset="0"/>
              <a:buChar char="•"/>
            </a:pPr>
            <a:r>
              <a:rPr lang="en-US" sz="1800" dirty="0"/>
              <a:t>Scan in Motors and scale to </a:t>
            </a:r>
            <a:r>
              <a:rPr lang="en-US" sz="1800" b="1" dirty="0"/>
              <a:t>60mm</a:t>
            </a:r>
            <a:endParaRPr lang="en-US" sz="1800" dirty="0"/>
          </a:p>
        </p:txBody>
      </p:sp>
      <p:sp>
        <p:nvSpPr>
          <p:cNvPr id="5" name="Title 4">
            <a:extLst>
              <a:ext uri="{FF2B5EF4-FFF2-40B4-BE49-F238E27FC236}">
                <a16:creationId xmlns:a16="http://schemas.microsoft.com/office/drawing/2014/main" id="{1A0EB8C6-221E-54C1-36B6-F93CA706C47C}"/>
              </a:ext>
            </a:extLst>
          </p:cNvPr>
          <p:cNvSpPr>
            <a:spLocks noGrp="1"/>
          </p:cNvSpPr>
          <p:nvPr>
            <p:ph type="title"/>
          </p:nvPr>
        </p:nvSpPr>
        <p:spPr/>
        <p:txBody>
          <a:bodyPr/>
          <a:lstStyle/>
          <a:p>
            <a:r>
              <a:rPr lang="de-DE" dirty="0"/>
              <a:t>Multisettings Training Lab</a:t>
            </a:r>
            <a:endParaRPr lang="en-US" dirty="0"/>
          </a:p>
        </p:txBody>
      </p:sp>
      <p:pic>
        <p:nvPicPr>
          <p:cNvPr id="9" name="Picture 8">
            <a:extLst>
              <a:ext uri="{FF2B5EF4-FFF2-40B4-BE49-F238E27FC236}">
                <a16:creationId xmlns:a16="http://schemas.microsoft.com/office/drawing/2014/main" id="{C07ADB04-90D3-C2DA-6997-6F22568CBF45}"/>
              </a:ext>
            </a:extLst>
          </p:cNvPr>
          <p:cNvPicPr>
            <a:picLocks noChangeAspect="1"/>
          </p:cNvPicPr>
          <p:nvPr/>
        </p:nvPicPr>
        <p:blipFill>
          <a:blip r:embed="rId2"/>
          <a:stretch>
            <a:fillRect/>
          </a:stretch>
        </p:blipFill>
        <p:spPr>
          <a:xfrm>
            <a:off x="11840" y="4113204"/>
            <a:ext cx="12192000" cy="2744796"/>
          </a:xfrm>
          <a:prstGeom prst="rect">
            <a:avLst/>
          </a:prstGeom>
        </p:spPr>
      </p:pic>
    </p:spTree>
    <p:extLst>
      <p:ext uri="{BB962C8B-B14F-4D97-AF65-F5344CB8AC3E}">
        <p14:creationId xmlns:p14="http://schemas.microsoft.com/office/powerpoint/2010/main" val="1949164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09E7005-6754-33E2-599B-CBA623240B20}"/>
              </a:ext>
            </a:extLst>
          </p:cNvPr>
          <p:cNvSpPr>
            <a:spLocks noGrp="1"/>
          </p:cNvSpPr>
          <p:nvPr>
            <p:ph type="body" sz="quarter" idx="15"/>
          </p:nvPr>
        </p:nvSpPr>
        <p:spPr>
          <a:xfrm>
            <a:off x="3" y="1090799"/>
            <a:ext cx="12191997" cy="2185801"/>
          </a:xfrm>
        </p:spPr>
        <p:txBody>
          <a:bodyPr/>
          <a:lstStyle/>
          <a:p>
            <a:pPr marL="0" indent="-342900">
              <a:spcBef>
                <a:spcPts val="0"/>
              </a:spcBef>
              <a:buFont typeface="Arial" panose="020B0604020202020204" pitchFamily="34" charset="0"/>
              <a:buChar char="•"/>
            </a:pPr>
            <a:r>
              <a:rPr lang="en-US" dirty="0"/>
              <a:t>Add a new PLC project.</a:t>
            </a:r>
          </a:p>
          <a:p>
            <a:pPr marL="712800" lvl="2" indent="-342900">
              <a:spcBef>
                <a:spcPts val="0"/>
              </a:spcBef>
              <a:buFont typeface="Arial" panose="020B0604020202020204" pitchFamily="34" charset="0"/>
              <a:buChar char="•"/>
            </a:pPr>
            <a:r>
              <a:rPr lang="en-US" dirty="0"/>
              <a:t>Create a GVL with these three outputs variables:</a:t>
            </a:r>
            <a:br>
              <a:rPr lang="en-US" dirty="0"/>
            </a:br>
            <a:endParaRPr lang="en-US" dirty="0"/>
          </a:p>
          <a:p>
            <a:pPr marL="712800" lvl="1" indent="0">
              <a:buNone/>
            </a:pPr>
            <a:r>
              <a:rPr lang="en-US" dirty="0" err="1"/>
              <a:t>xSafetyErrorAck</a:t>
            </a:r>
            <a:r>
              <a:rPr lang="en-US" dirty="0"/>
              <a:t> </a:t>
            </a:r>
            <a:r>
              <a:rPr lang="en-US" b="1" dirty="0">
                <a:solidFill>
                  <a:srgbClr val="0070C0"/>
                </a:solidFill>
              </a:rPr>
              <a:t>AT</a:t>
            </a:r>
            <a:r>
              <a:rPr lang="en-US" dirty="0"/>
              <a:t> </a:t>
            </a:r>
            <a:r>
              <a:rPr lang="en-US" dirty="0">
                <a:solidFill>
                  <a:srgbClr val="ED53D7"/>
                </a:solidFill>
              </a:rPr>
              <a:t>%Q*</a:t>
            </a:r>
            <a:r>
              <a:rPr lang="en-US" dirty="0"/>
              <a:t>:</a:t>
            </a:r>
            <a:r>
              <a:rPr lang="en-US" dirty="0">
                <a:solidFill>
                  <a:srgbClr val="0070C0"/>
                </a:solidFill>
              </a:rPr>
              <a:t>BOOL</a:t>
            </a:r>
            <a:r>
              <a:rPr lang="en-US" dirty="0"/>
              <a:t>;</a:t>
            </a:r>
          </a:p>
          <a:p>
            <a:pPr marL="712800" lvl="1" indent="0">
              <a:buNone/>
            </a:pPr>
            <a:r>
              <a:rPr lang="en-US" dirty="0" err="1"/>
              <a:t>xSafetyRun</a:t>
            </a:r>
            <a:r>
              <a:rPr lang="en-US" dirty="0"/>
              <a:t> </a:t>
            </a:r>
            <a:r>
              <a:rPr lang="en-US" b="1" dirty="0">
                <a:solidFill>
                  <a:srgbClr val="2D76AD"/>
                </a:solidFill>
              </a:rPr>
              <a:t>AT</a:t>
            </a:r>
            <a:r>
              <a:rPr lang="en-US" dirty="0"/>
              <a:t> </a:t>
            </a:r>
            <a:r>
              <a:rPr lang="en-US" dirty="0">
                <a:solidFill>
                  <a:srgbClr val="ED53D7"/>
                </a:solidFill>
              </a:rPr>
              <a:t>%Q*</a:t>
            </a:r>
            <a:r>
              <a:rPr lang="en-US" dirty="0"/>
              <a:t>:</a:t>
            </a:r>
            <a:r>
              <a:rPr lang="en-US" dirty="0">
                <a:solidFill>
                  <a:srgbClr val="0070C0"/>
                </a:solidFill>
              </a:rPr>
              <a:t>BOOL </a:t>
            </a:r>
            <a:r>
              <a:rPr lang="en-US" dirty="0"/>
              <a:t>:=</a:t>
            </a:r>
            <a:r>
              <a:rPr lang="en-US" dirty="0">
                <a:solidFill>
                  <a:srgbClr val="FFC000"/>
                </a:solidFill>
              </a:rPr>
              <a:t>TRUE</a:t>
            </a:r>
            <a:r>
              <a:rPr lang="en-US" dirty="0"/>
              <a:t>;</a:t>
            </a:r>
          </a:p>
          <a:p>
            <a:pPr marL="712800" lvl="1" indent="0">
              <a:buNone/>
            </a:pPr>
            <a:r>
              <a:rPr lang="en-US" dirty="0" err="1"/>
              <a:t>xSafetySLS</a:t>
            </a:r>
            <a:r>
              <a:rPr lang="en-US" dirty="0"/>
              <a:t> </a:t>
            </a:r>
            <a:r>
              <a:rPr lang="en-US" b="1" dirty="0">
                <a:solidFill>
                  <a:srgbClr val="0070C0"/>
                </a:solidFill>
              </a:rPr>
              <a:t>AT</a:t>
            </a:r>
            <a:r>
              <a:rPr lang="en-US" dirty="0"/>
              <a:t> </a:t>
            </a:r>
            <a:r>
              <a:rPr lang="en-US" dirty="0">
                <a:solidFill>
                  <a:srgbClr val="ED53D7"/>
                </a:solidFill>
              </a:rPr>
              <a:t>%Q*</a:t>
            </a:r>
            <a:r>
              <a:rPr lang="en-US" dirty="0"/>
              <a:t>:</a:t>
            </a:r>
            <a:r>
              <a:rPr lang="en-US" dirty="0">
                <a:solidFill>
                  <a:srgbClr val="0070C0"/>
                </a:solidFill>
              </a:rPr>
              <a:t>BOOL</a:t>
            </a:r>
            <a:r>
              <a:rPr lang="en-US" dirty="0"/>
              <a:t>;</a:t>
            </a:r>
          </a:p>
        </p:txBody>
      </p:sp>
      <p:sp>
        <p:nvSpPr>
          <p:cNvPr id="5" name="Title 4">
            <a:extLst>
              <a:ext uri="{FF2B5EF4-FFF2-40B4-BE49-F238E27FC236}">
                <a16:creationId xmlns:a16="http://schemas.microsoft.com/office/drawing/2014/main" id="{EB82FD3D-BA04-7D6B-8C8C-897C6E358C6D}"/>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D01CC057-59A7-5BD9-80F5-0CF17A64B8F0}"/>
              </a:ext>
            </a:extLst>
          </p:cNvPr>
          <p:cNvPicPr>
            <a:picLocks noChangeAspect="1"/>
          </p:cNvPicPr>
          <p:nvPr/>
        </p:nvPicPr>
        <p:blipFill>
          <a:blip r:embed="rId2"/>
          <a:stretch>
            <a:fillRect/>
          </a:stretch>
        </p:blipFill>
        <p:spPr>
          <a:xfrm>
            <a:off x="6096000" y="2209800"/>
            <a:ext cx="5715000" cy="4191898"/>
          </a:xfrm>
          <a:prstGeom prst="rect">
            <a:avLst/>
          </a:prstGeom>
        </p:spPr>
      </p:pic>
      <p:sp>
        <p:nvSpPr>
          <p:cNvPr id="8" name="TextBox 7">
            <a:extLst>
              <a:ext uri="{FF2B5EF4-FFF2-40B4-BE49-F238E27FC236}">
                <a16:creationId xmlns:a16="http://schemas.microsoft.com/office/drawing/2014/main" id="{E2B7F7E8-ECA9-9829-D826-0D48797862D0}"/>
              </a:ext>
            </a:extLst>
          </p:cNvPr>
          <p:cNvSpPr txBox="1"/>
          <p:nvPr/>
        </p:nvSpPr>
        <p:spPr>
          <a:xfrm>
            <a:off x="381000" y="3874862"/>
            <a:ext cx="6094520" cy="430887"/>
          </a:xfrm>
          <a:prstGeom prst="rect">
            <a:avLst/>
          </a:prstGeom>
          <a:noFill/>
        </p:spPr>
        <p:txBody>
          <a:bodyPr wrap="square">
            <a:spAutoFit/>
          </a:bodyPr>
          <a:lstStyle/>
          <a:p>
            <a:pPr marL="0" indent="-342900">
              <a:spcBef>
                <a:spcPts val="0"/>
              </a:spcBef>
              <a:buFont typeface="Arial" panose="020B0604020202020204" pitchFamily="34" charset="0"/>
              <a:buChar char="•"/>
            </a:pPr>
            <a:r>
              <a:rPr lang="en-US" sz="2200" dirty="0">
                <a:latin typeface="+mj-lt"/>
              </a:rPr>
              <a:t>Re-build </a:t>
            </a:r>
          </a:p>
        </p:txBody>
      </p:sp>
    </p:spTree>
    <p:extLst>
      <p:ext uri="{BB962C8B-B14F-4D97-AF65-F5344CB8AC3E}">
        <p14:creationId xmlns:p14="http://schemas.microsoft.com/office/powerpoint/2010/main" val="2545248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2FC0DF-3BF5-927F-7324-3782FBD70041}"/>
              </a:ext>
            </a:extLst>
          </p:cNvPr>
          <p:cNvSpPr>
            <a:spLocks noGrp="1"/>
          </p:cNvSpPr>
          <p:nvPr>
            <p:ph type="body" sz="quarter" idx="15"/>
          </p:nvPr>
        </p:nvSpPr>
        <p:spPr/>
        <p:txBody>
          <a:bodyPr/>
          <a:lstStyle/>
          <a:p>
            <a:pPr marL="342900" indent="-342900">
              <a:buFont typeface="Arial" panose="020B0604020202020204" pitchFamily="34" charset="0"/>
              <a:buChar char="•"/>
            </a:pPr>
            <a:r>
              <a:rPr lang="en-US" dirty="0"/>
              <a:t>Add a new safety project with the following name</a:t>
            </a:r>
          </a:p>
          <a:p>
            <a:pPr marL="0" indent="0">
              <a:buNone/>
            </a:pPr>
            <a:endParaRPr lang="en-US" dirty="0"/>
          </a:p>
          <a:p>
            <a:pPr marL="0" indent="0">
              <a:buNone/>
            </a:pPr>
            <a:r>
              <a:rPr lang="en-US" dirty="0"/>
              <a:t>	“EL6910”</a:t>
            </a:r>
          </a:p>
        </p:txBody>
      </p:sp>
      <p:sp>
        <p:nvSpPr>
          <p:cNvPr id="5" name="Title 4">
            <a:extLst>
              <a:ext uri="{FF2B5EF4-FFF2-40B4-BE49-F238E27FC236}">
                <a16:creationId xmlns:a16="http://schemas.microsoft.com/office/drawing/2014/main" id="{3C054429-6B1B-1DC6-5657-5A3EFB4E1A17}"/>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91534072-DE6E-5070-1420-9EC34CDE2FAB}"/>
              </a:ext>
            </a:extLst>
          </p:cNvPr>
          <p:cNvPicPr>
            <a:picLocks noChangeAspect="1"/>
          </p:cNvPicPr>
          <p:nvPr/>
        </p:nvPicPr>
        <p:blipFill>
          <a:blip r:embed="rId2"/>
          <a:stretch>
            <a:fillRect/>
          </a:stretch>
        </p:blipFill>
        <p:spPr>
          <a:xfrm>
            <a:off x="473190" y="2667000"/>
            <a:ext cx="3162414" cy="1524000"/>
          </a:xfrm>
          <a:prstGeom prst="rect">
            <a:avLst/>
          </a:prstGeom>
        </p:spPr>
      </p:pic>
      <p:pic>
        <p:nvPicPr>
          <p:cNvPr id="8" name="Picture 7">
            <a:extLst>
              <a:ext uri="{FF2B5EF4-FFF2-40B4-BE49-F238E27FC236}">
                <a16:creationId xmlns:a16="http://schemas.microsoft.com/office/drawing/2014/main" id="{2FEDBC5D-1A3B-A5F0-6997-4F72061A2B6E}"/>
              </a:ext>
            </a:extLst>
          </p:cNvPr>
          <p:cNvPicPr>
            <a:picLocks noChangeAspect="1"/>
          </p:cNvPicPr>
          <p:nvPr/>
        </p:nvPicPr>
        <p:blipFill>
          <a:blip r:embed="rId3"/>
          <a:stretch>
            <a:fillRect/>
          </a:stretch>
        </p:blipFill>
        <p:spPr>
          <a:xfrm>
            <a:off x="4661318" y="1711750"/>
            <a:ext cx="7057492" cy="4883865"/>
          </a:xfrm>
          <a:prstGeom prst="rect">
            <a:avLst/>
          </a:prstGeom>
        </p:spPr>
      </p:pic>
      <p:sp>
        <p:nvSpPr>
          <p:cNvPr id="2" name="Rectangle 1">
            <a:extLst>
              <a:ext uri="{FF2B5EF4-FFF2-40B4-BE49-F238E27FC236}">
                <a16:creationId xmlns:a16="http://schemas.microsoft.com/office/drawing/2014/main" id="{8AA42EDD-EFC5-893D-B60B-6E6319C886EB}"/>
              </a:ext>
            </a:extLst>
          </p:cNvPr>
          <p:cNvSpPr/>
          <p:nvPr/>
        </p:nvSpPr>
        <p:spPr>
          <a:xfrm>
            <a:off x="6400800" y="2438400"/>
            <a:ext cx="3429000" cy="3048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624473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2FC0DF-3BF5-927F-7324-3782FBD70041}"/>
              </a:ext>
            </a:extLst>
          </p:cNvPr>
          <p:cNvSpPr>
            <a:spLocks noGrp="1"/>
          </p:cNvSpPr>
          <p:nvPr>
            <p:ph type="body" sz="quarter" idx="15"/>
          </p:nvPr>
        </p:nvSpPr>
        <p:spPr/>
        <p:txBody>
          <a:bodyPr/>
          <a:lstStyle/>
          <a:p>
            <a:pPr marL="342900" indent="-342900">
              <a:buFont typeface="Arial" panose="020B0604020202020204" pitchFamily="34" charset="0"/>
              <a:buChar char="•"/>
            </a:pPr>
            <a:r>
              <a:rPr lang="en-US" dirty="0"/>
              <a:t>Configure the Target System.</a:t>
            </a:r>
          </a:p>
          <a:p>
            <a:pPr marL="695700" lvl="1" indent="-342900">
              <a:buFont typeface="Arial" panose="020B0604020202020204" pitchFamily="34" charset="0"/>
              <a:buChar char="•"/>
            </a:pPr>
            <a:r>
              <a:rPr lang="en-US" dirty="0"/>
              <a:t>Make sure the Safe Address matches Hardware address</a:t>
            </a:r>
          </a:p>
          <a:p>
            <a:pPr marL="0" indent="0">
              <a:buNone/>
            </a:pPr>
            <a:endParaRPr lang="en-US" dirty="0"/>
          </a:p>
          <a:p>
            <a:pPr marL="0" indent="0">
              <a:buNone/>
            </a:pPr>
            <a:r>
              <a:rPr lang="en-US" dirty="0"/>
              <a:t>	</a:t>
            </a:r>
          </a:p>
        </p:txBody>
      </p:sp>
      <p:sp>
        <p:nvSpPr>
          <p:cNvPr id="5" name="Title 4">
            <a:extLst>
              <a:ext uri="{FF2B5EF4-FFF2-40B4-BE49-F238E27FC236}">
                <a16:creationId xmlns:a16="http://schemas.microsoft.com/office/drawing/2014/main" id="{3C054429-6B1B-1DC6-5657-5A3EFB4E1A17}"/>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BC6C8CB5-75CA-411D-BAE1-428D49DA78C3}"/>
              </a:ext>
            </a:extLst>
          </p:cNvPr>
          <p:cNvPicPr>
            <a:picLocks noChangeAspect="1"/>
          </p:cNvPicPr>
          <p:nvPr/>
        </p:nvPicPr>
        <p:blipFill>
          <a:blip r:embed="rId2"/>
          <a:stretch>
            <a:fillRect/>
          </a:stretch>
        </p:blipFill>
        <p:spPr>
          <a:xfrm>
            <a:off x="4419600" y="2144473"/>
            <a:ext cx="6915150" cy="4532552"/>
          </a:xfrm>
          <a:prstGeom prst="rect">
            <a:avLst/>
          </a:prstGeom>
        </p:spPr>
      </p:pic>
      <p:sp>
        <p:nvSpPr>
          <p:cNvPr id="6" name="Rectangle 5">
            <a:extLst>
              <a:ext uri="{FF2B5EF4-FFF2-40B4-BE49-F238E27FC236}">
                <a16:creationId xmlns:a16="http://schemas.microsoft.com/office/drawing/2014/main" id="{4F932610-0058-D059-B18A-B13904222AD9}"/>
              </a:ext>
            </a:extLst>
          </p:cNvPr>
          <p:cNvSpPr/>
          <p:nvPr/>
        </p:nvSpPr>
        <p:spPr>
          <a:xfrm>
            <a:off x="8305800" y="2895600"/>
            <a:ext cx="2895600" cy="23622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0" name="Picture 9">
            <a:extLst>
              <a:ext uri="{FF2B5EF4-FFF2-40B4-BE49-F238E27FC236}">
                <a16:creationId xmlns:a16="http://schemas.microsoft.com/office/drawing/2014/main" id="{8D84CF50-73C6-DADF-781D-796C046E890A}"/>
              </a:ext>
            </a:extLst>
          </p:cNvPr>
          <p:cNvPicPr>
            <a:picLocks noChangeAspect="1"/>
          </p:cNvPicPr>
          <p:nvPr/>
        </p:nvPicPr>
        <p:blipFill>
          <a:blip r:embed="rId3"/>
          <a:stretch>
            <a:fillRect/>
          </a:stretch>
        </p:blipFill>
        <p:spPr>
          <a:xfrm>
            <a:off x="520455" y="2743200"/>
            <a:ext cx="3429000" cy="885825"/>
          </a:xfrm>
          <a:prstGeom prst="rect">
            <a:avLst/>
          </a:prstGeom>
        </p:spPr>
      </p:pic>
      <p:pic>
        <p:nvPicPr>
          <p:cNvPr id="12" name="Picture 11">
            <a:extLst>
              <a:ext uri="{FF2B5EF4-FFF2-40B4-BE49-F238E27FC236}">
                <a16:creationId xmlns:a16="http://schemas.microsoft.com/office/drawing/2014/main" id="{B950FE11-800D-2366-D37E-123CC1C19DBC}"/>
              </a:ext>
            </a:extLst>
          </p:cNvPr>
          <p:cNvPicPr>
            <a:picLocks noChangeAspect="1"/>
          </p:cNvPicPr>
          <p:nvPr/>
        </p:nvPicPr>
        <p:blipFill>
          <a:blip r:embed="rId4"/>
          <a:stretch>
            <a:fillRect/>
          </a:stretch>
        </p:blipFill>
        <p:spPr>
          <a:xfrm>
            <a:off x="501405" y="4597364"/>
            <a:ext cx="3448050" cy="914400"/>
          </a:xfrm>
          <a:prstGeom prst="rect">
            <a:avLst/>
          </a:prstGeom>
        </p:spPr>
      </p:pic>
      <p:cxnSp>
        <p:nvCxnSpPr>
          <p:cNvPr id="14" name="Straight Arrow Connector 13">
            <a:extLst>
              <a:ext uri="{FF2B5EF4-FFF2-40B4-BE49-F238E27FC236}">
                <a16:creationId xmlns:a16="http://schemas.microsoft.com/office/drawing/2014/main" id="{0D656F4C-081B-A031-4783-D01CA16FB911}"/>
              </a:ext>
            </a:extLst>
          </p:cNvPr>
          <p:cNvCxnSpPr>
            <a:cxnSpLocks/>
          </p:cNvCxnSpPr>
          <p:nvPr/>
        </p:nvCxnSpPr>
        <p:spPr>
          <a:xfrm>
            <a:off x="2054397" y="3639670"/>
            <a:ext cx="0" cy="957694"/>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615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Set the two checkmarks in the target system area</a:t>
            </a:r>
          </a:p>
          <a:p>
            <a:pPr marL="695700" lvl="1" indent="-342900">
              <a:buFont typeface="Arial" panose="020B0604020202020204" pitchFamily="34" charset="0"/>
              <a:buChar char="•"/>
            </a:pPr>
            <a:r>
              <a:rPr lang="en-US" dirty="0"/>
              <a:t>Without the checkmarks there is no visible traceability </a:t>
            </a:r>
          </a:p>
          <a:p>
            <a:pPr marL="695700" lvl="1" indent="-342900">
              <a:buFont typeface="Arial" panose="020B0604020202020204" pitchFamily="34" charset="0"/>
              <a:buChar char="•"/>
            </a:pPr>
            <a:r>
              <a:rPr lang="en-US" dirty="0"/>
              <a:t>With these checkmarks, an exact interpretation of the links are possible!!!</a:t>
            </a:r>
          </a:p>
          <a:p>
            <a:pPr marL="695700" lvl="1" indent="-342900">
              <a:buFont typeface="Arial" panose="020B0604020202020204" pitchFamily="34" charset="0"/>
              <a:buChar char="•"/>
            </a:pPr>
            <a:r>
              <a:rPr lang="en-US" u="sng" dirty="0"/>
              <a:t>Save-All</a:t>
            </a:r>
          </a:p>
          <a:p>
            <a:pPr marL="695700" lvl="1" indent="-342900">
              <a:buFont typeface="Arial" panose="020B0604020202020204" pitchFamily="34" charset="0"/>
              <a:buChar char="•"/>
            </a:pPr>
            <a:endParaRPr lang="en-US" u="sng" dirty="0"/>
          </a:p>
          <a:p>
            <a:pPr marL="695700" lvl="1" indent="-342900">
              <a:buFont typeface="Arial" panose="020B0604020202020204" pitchFamily="34" charset="0"/>
              <a:buChar char="•"/>
            </a:pPr>
            <a:endParaRPr lang="en-US" u="sng"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352800" lvl="1" indent="0">
              <a:buNone/>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a:p>
            <a:pPr marL="0" indent="0">
              <a:buNone/>
            </a:pPr>
            <a:r>
              <a:rPr lang="en-US" b="1" dirty="0"/>
              <a:t>NOTE: Top checkmark is for TwinCAT 2 imported projects</a:t>
            </a:r>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EFB9A920-580B-CADF-105F-3076FD6D597E}"/>
              </a:ext>
            </a:extLst>
          </p:cNvPr>
          <p:cNvPicPr>
            <a:picLocks noChangeAspect="1"/>
          </p:cNvPicPr>
          <p:nvPr/>
        </p:nvPicPr>
        <p:blipFill>
          <a:blip r:embed="rId2"/>
          <a:stretch>
            <a:fillRect/>
          </a:stretch>
        </p:blipFill>
        <p:spPr>
          <a:xfrm>
            <a:off x="4572000" y="2503802"/>
            <a:ext cx="7524212" cy="3363598"/>
          </a:xfrm>
          <a:prstGeom prst="rect">
            <a:avLst/>
          </a:prstGeom>
        </p:spPr>
      </p:pic>
      <p:grpSp>
        <p:nvGrpSpPr>
          <p:cNvPr id="12" name="Group 11">
            <a:extLst>
              <a:ext uri="{FF2B5EF4-FFF2-40B4-BE49-F238E27FC236}">
                <a16:creationId xmlns:a16="http://schemas.microsoft.com/office/drawing/2014/main" id="{8A1059C9-24CB-883A-01EF-5B5D4338FEB6}"/>
              </a:ext>
            </a:extLst>
          </p:cNvPr>
          <p:cNvGrpSpPr/>
          <p:nvPr/>
        </p:nvGrpSpPr>
        <p:grpSpPr>
          <a:xfrm>
            <a:off x="9454784" y="4267200"/>
            <a:ext cx="780217" cy="838200"/>
            <a:chOff x="9525000" y="4419600"/>
            <a:chExt cx="780217" cy="838200"/>
          </a:xfrm>
        </p:grpSpPr>
        <p:cxnSp>
          <p:nvCxnSpPr>
            <p:cNvPr id="9" name="Straight Arrow Connector 8">
              <a:extLst>
                <a:ext uri="{FF2B5EF4-FFF2-40B4-BE49-F238E27FC236}">
                  <a16:creationId xmlns:a16="http://schemas.microsoft.com/office/drawing/2014/main" id="{201A9AE0-B0F1-0FF9-9288-B2F07925EB74}"/>
                </a:ext>
              </a:extLst>
            </p:cNvPr>
            <p:cNvCxnSpPr>
              <a:cxnSpLocks/>
            </p:cNvCxnSpPr>
            <p:nvPr/>
          </p:nvCxnSpPr>
          <p:spPr>
            <a:xfrm flipV="1">
              <a:off x="9543217" y="4419600"/>
              <a:ext cx="762000" cy="304800"/>
            </a:xfrm>
            <a:prstGeom prst="straightConnector1">
              <a:avLst/>
            </a:prstGeom>
            <a:ln w="381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9740601-408F-3463-8D6D-CD7891BFA8FE}"/>
                </a:ext>
              </a:extLst>
            </p:cNvPr>
            <p:cNvCxnSpPr>
              <a:cxnSpLocks/>
            </p:cNvCxnSpPr>
            <p:nvPr/>
          </p:nvCxnSpPr>
          <p:spPr>
            <a:xfrm flipV="1">
              <a:off x="9525000" y="4953000"/>
              <a:ext cx="762000" cy="304800"/>
            </a:xfrm>
            <a:prstGeom prst="straightConnector1">
              <a:avLst/>
            </a:prstGeom>
            <a:ln w="381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261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Import EL1904 alias device.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35C5CC91-189C-D99F-A685-957BF951D609}"/>
              </a:ext>
            </a:extLst>
          </p:cNvPr>
          <p:cNvPicPr>
            <a:picLocks noChangeAspect="1"/>
          </p:cNvPicPr>
          <p:nvPr/>
        </p:nvPicPr>
        <p:blipFill>
          <a:blip r:embed="rId2"/>
          <a:stretch>
            <a:fillRect/>
          </a:stretch>
        </p:blipFill>
        <p:spPr>
          <a:xfrm>
            <a:off x="5791200" y="1631409"/>
            <a:ext cx="4076700" cy="4162425"/>
          </a:xfrm>
          <a:prstGeom prst="rect">
            <a:avLst/>
          </a:prstGeom>
        </p:spPr>
      </p:pic>
      <p:pic>
        <p:nvPicPr>
          <p:cNvPr id="6" name="Picture 5">
            <a:extLst>
              <a:ext uri="{FF2B5EF4-FFF2-40B4-BE49-F238E27FC236}">
                <a16:creationId xmlns:a16="http://schemas.microsoft.com/office/drawing/2014/main" id="{E618EA28-1013-5133-750C-DD71FE457B96}"/>
              </a:ext>
            </a:extLst>
          </p:cNvPr>
          <p:cNvPicPr>
            <a:picLocks noChangeAspect="1"/>
          </p:cNvPicPr>
          <p:nvPr/>
        </p:nvPicPr>
        <p:blipFill>
          <a:blip r:embed="rId3"/>
          <a:stretch>
            <a:fillRect/>
          </a:stretch>
        </p:blipFill>
        <p:spPr>
          <a:xfrm>
            <a:off x="761999" y="2057400"/>
            <a:ext cx="4989325" cy="2667000"/>
          </a:xfrm>
          <a:prstGeom prst="rect">
            <a:avLst/>
          </a:prstGeom>
        </p:spPr>
      </p:pic>
    </p:spTree>
    <p:extLst>
      <p:ext uri="{BB962C8B-B14F-4D97-AF65-F5344CB8AC3E}">
        <p14:creationId xmlns:p14="http://schemas.microsoft.com/office/powerpoint/2010/main" val="1239855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3" y="1090799"/>
            <a:ext cx="5029198" cy="5331600"/>
          </a:xfrm>
        </p:spPr>
        <p:txBody>
          <a:bodyPr/>
          <a:lstStyle/>
          <a:p>
            <a:pPr marL="342900" indent="-342900">
              <a:buFont typeface="Arial" panose="020B0604020202020204" pitchFamily="34" charset="0"/>
              <a:buChar char="•"/>
            </a:pPr>
            <a:r>
              <a:rPr lang="en-US" dirty="0"/>
              <a:t>Link Error Acknowledgement and Run to PLC variables.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5D08E98F-D626-57EF-2E54-E66EE1A2F99C}"/>
              </a:ext>
            </a:extLst>
          </p:cNvPr>
          <p:cNvPicPr>
            <a:picLocks noChangeAspect="1"/>
          </p:cNvPicPr>
          <p:nvPr/>
        </p:nvPicPr>
        <p:blipFill>
          <a:blip r:embed="rId2"/>
          <a:stretch>
            <a:fillRect/>
          </a:stretch>
        </p:blipFill>
        <p:spPr>
          <a:xfrm>
            <a:off x="2" y="2859881"/>
            <a:ext cx="9091613" cy="3998119"/>
          </a:xfrm>
          <a:prstGeom prst="rect">
            <a:avLst/>
          </a:prstGeom>
        </p:spPr>
      </p:pic>
      <p:pic>
        <p:nvPicPr>
          <p:cNvPr id="9" name="Picture 8">
            <a:extLst>
              <a:ext uri="{FF2B5EF4-FFF2-40B4-BE49-F238E27FC236}">
                <a16:creationId xmlns:a16="http://schemas.microsoft.com/office/drawing/2014/main" id="{CD16E25D-8313-5C90-7A95-773B39B48004}"/>
              </a:ext>
            </a:extLst>
          </p:cNvPr>
          <p:cNvPicPr>
            <a:picLocks noChangeAspect="1"/>
          </p:cNvPicPr>
          <p:nvPr/>
        </p:nvPicPr>
        <p:blipFill>
          <a:blip r:embed="rId3"/>
          <a:stretch>
            <a:fillRect/>
          </a:stretch>
        </p:blipFill>
        <p:spPr>
          <a:xfrm>
            <a:off x="5715000" y="1174576"/>
            <a:ext cx="4581527" cy="1573126"/>
          </a:xfrm>
          <a:prstGeom prst="rect">
            <a:avLst/>
          </a:prstGeom>
        </p:spPr>
      </p:pic>
      <p:sp>
        <p:nvSpPr>
          <p:cNvPr id="10" name="Rectangle 9">
            <a:extLst>
              <a:ext uri="{FF2B5EF4-FFF2-40B4-BE49-F238E27FC236}">
                <a16:creationId xmlns:a16="http://schemas.microsoft.com/office/drawing/2014/main" id="{0CB554E4-E6A9-4F07-E633-A400356D277F}"/>
              </a:ext>
            </a:extLst>
          </p:cNvPr>
          <p:cNvSpPr/>
          <p:nvPr/>
        </p:nvSpPr>
        <p:spPr>
          <a:xfrm>
            <a:off x="990600" y="5943600"/>
            <a:ext cx="1524000" cy="3810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11" name="Straight Arrow Connector 10">
            <a:extLst>
              <a:ext uri="{FF2B5EF4-FFF2-40B4-BE49-F238E27FC236}">
                <a16:creationId xmlns:a16="http://schemas.microsoft.com/office/drawing/2014/main" id="{0BA04832-1B7E-A1CE-3C58-65F996778420}"/>
              </a:ext>
            </a:extLst>
          </p:cNvPr>
          <p:cNvCxnSpPr>
            <a:cxnSpLocks/>
          </p:cNvCxnSpPr>
          <p:nvPr/>
        </p:nvCxnSpPr>
        <p:spPr>
          <a:xfrm flipV="1">
            <a:off x="9825731" y="2402144"/>
            <a:ext cx="0" cy="1354455"/>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F8CAC7A-6979-1E3D-2F02-207E4BE58867}"/>
              </a:ext>
            </a:extLst>
          </p:cNvPr>
          <p:cNvCxnSpPr>
            <a:cxnSpLocks/>
          </p:cNvCxnSpPr>
          <p:nvPr/>
        </p:nvCxnSpPr>
        <p:spPr>
          <a:xfrm flipV="1">
            <a:off x="2514600" y="4038600"/>
            <a:ext cx="1904998" cy="1905000"/>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829EB0B-ADD4-1643-090D-B49FAFE9F3BE}"/>
              </a:ext>
            </a:extLst>
          </p:cNvPr>
          <p:cNvCxnSpPr>
            <a:cxnSpLocks/>
          </p:cNvCxnSpPr>
          <p:nvPr/>
        </p:nvCxnSpPr>
        <p:spPr>
          <a:xfrm flipV="1">
            <a:off x="2514600" y="4267200"/>
            <a:ext cx="1904998" cy="2057400"/>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EB08770-CB1F-C19E-1DF6-92AC07EF24DF}"/>
              </a:ext>
            </a:extLst>
          </p:cNvPr>
          <p:cNvSpPr/>
          <p:nvPr/>
        </p:nvSpPr>
        <p:spPr>
          <a:xfrm>
            <a:off x="4419599" y="3926421"/>
            <a:ext cx="2514597" cy="340779"/>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53339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u="sng" dirty="0"/>
              <a:t>Save-All</a:t>
            </a:r>
            <a:endParaRPr lang="en-US" dirty="0"/>
          </a:p>
          <a:p>
            <a:pPr marL="342900" indent="-342900">
              <a:buFont typeface="Arial" panose="020B0604020202020204" pitchFamily="34" charset="0"/>
              <a:buChar char="•"/>
            </a:pPr>
            <a:r>
              <a:rPr lang="en-US" dirty="0"/>
              <a:t>Start the </a:t>
            </a:r>
            <a:r>
              <a:rPr lang="en-US" dirty="0" err="1"/>
              <a:t>SafeMotion</a:t>
            </a:r>
            <a:r>
              <a:rPr lang="en-US" dirty="0"/>
              <a:t> Wizard</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47B26683-9142-14E2-72C4-400236C6F898}"/>
              </a:ext>
            </a:extLst>
          </p:cNvPr>
          <p:cNvPicPr>
            <a:picLocks noChangeAspect="1"/>
          </p:cNvPicPr>
          <p:nvPr/>
        </p:nvPicPr>
        <p:blipFill>
          <a:blip r:embed="rId2"/>
          <a:stretch>
            <a:fillRect/>
          </a:stretch>
        </p:blipFill>
        <p:spPr>
          <a:xfrm>
            <a:off x="5238749" y="1717049"/>
            <a:ext cx="5657850" cy="4705350"/>
          </a:xfrm>
          <a:prstGeom prst="rect">
            <a:avLst/>
          </a:prstGeom>
        </p:spPr>
      </p:pic>
    </p:spTree>
    <p:extLst>
      <p:ext uri="{BB962C8B-B14F-4D97-AF65-F5344CB8AC3E}">
        <p14:creationId xmlns:p14="http://schemas.microsoft.com/office/powerpoint/2010/main" val="3941594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Select the drives we want to use for </a:t>
            </a:r>
            <a:r>
              <a:rPr lang="en-US" dirty="0" err="1"/>
              <a:t>Multisettings</a:t>
            </a:r>
            <a:r>
              <a:rPr lang="en-US" dirty="0"/>
              <a: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934B5998-6930-D112-D08D-3866556CB1CF}"/>
              </a:ext>
            </a:extLst>
          </p:cNvPr>
          <p:cNvPicPr>
            <a:picLocks noChangeAspect="1"/>
          </p:cNvPicPr>
          <p:nvPr/>
        </p:nvPicPr>
        <p:blipFill>
          <a:blip r:embed="rId2"/>
          <a:stretch>
            <a:fillRect/>
          </a:stretch>
        </p:blipFill>
        <p:spPr>
          <a:xfrm>
            <a:off x="3352800" y="1750195"/>
            <a:ext cx="6648450" cy="5062933"/>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5562600" y="2895600"/>
            <a:ext cx="1524000" cy="3048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90443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8839197" cy="1271401"/>
          </a:xfrm>
        </p:spPr>
        <p:txBody>
          <a:bodyPr/>
          <a:lstStyle/>
          <a:p>
            <a:pPr marL="342900" indent="-342900">
              <a:buFont typeface="Arial" panose="020B0604020202020204" pitchFamily="34" charset="0"/>
              <a:buChar char="•"/>
            </a:pPr>
            <a:r>
              <a:rPr lang="en-US" dirty="0"/>
              <a:t>Select the encoder types for </a:t>
            </a:r>
            <a:r>
              <a:rPr lang="en-US" dirty="0" err="1"/>
              <a:t>ChA</a:t>
            </a:r>
            <a:r>
              <a:rPr lang="en-US" dirty="0"/>
              <a:t> and ChB</a:t>
            </a:r>
          </a:p>
          <a:p>
            <a:pPr marL="695700" lvl="1" indent="-342900">
              <a:buFont typeface="Arial" panose="020B0604020202020204" pitchFamily="34" charset="0"/>
              <a:buChar char="•"/>
            </a:pPr>
            <a:r>
              <a:rPr lang="en-US" sz="1800" dirty="0"/>
              <a:t>If you see the old TE9000 window, we have a newer version available on our Beckhoff website.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CE5D80CE-E450-0AC5-8AB6-90BCB390D6F4}"/>
              </a:ext>
            </a:extLst>
          </p:cNvPr>
          <p:cNvPicPr>
            <a:picLocks noChangeAspect="1"/>
          </p:cNvPicPr>
          <p:nvPr/>
        </p:nvPicPr>
        <p:blipFill>
          <a:blip r:embed="rId2"/>
          <a:stretch>
            <a:fillRect/>
          </a:stretch>
        </p:blipFill>
        <p:spPr>
          <a:xfrm>
            <a:off x="2" y="2754078"/>
            <a:ext cx="4891480" cy="4101126"/>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1371600" y="3354700"/>
            <a:ext cx="2286000" cy="12173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0" name="Picture 9">
            <a:extLst>
              <a:ext uri="{FF2B5EF4-FFF2-40B4-BE49-F238E27FC236}">
                <a16:creationId xmlns:a16="http://schemas.microsoft.com/office/drawing/2014/main" id="{AA18EBB8-03FC-DAD7-C6AD-B714E6EE55DF}"/>
              </a:ext>
            </a:extLst>
          </p:cNvPr>
          <p:cNvPicPr>
            <a:picLocks noChangeAspect="1"/>
          </p:cNvPicPr>
          <p:nvPr/>
        </p:nvPicPr>
        <p:blipFill>
          <a:blip r:embed="rId3"/>
          <a:stretch>
            <a:fillRect/>
          </a:stretch>
        </p:blipFill>
        <p:spPr>
          <a:xfrm>
            <a:off x="5296586" y="2754078"/>
            <a:ext cx="6400114" cy="4101126"/>
          </a:xfrm>
          <a:prstGeom prst="rect">
            <a:avLst/>
          </a:prstGeom>
        </p:spPr>
      </p:pic>
      <p:sp>
        <p:nvSpPr>
          <p:cNvPr id="8" name="Rectangle 7">
            <a:extLst>
              <a:ext uri="{FF2B5EF4-FFF2-40B4-BE49-F238E27FC236}">
                <a16:creationId xmlns:a16="http://schemas.microsoft.com/office/drawing/2014/main" id="{9AE81EA6-8625-1DA4-03DC-939B5F691D48}"/>
              </a:ext>
            </a:extLst>
          </p:cNvPr>
          <p:cNvSpPr/>
          <p:nvPr/>
        </p:nvSpPr>
        <p:spPr>
          <a:xfrm>
            <a:off x="7391400" y="3726612"/>
            <a:ext cx="3352800" cy="1912188"/>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1" name="Text Placeholder 3">
            <a:extLst>
              <a:ext uri="{FF2B5EF4-FFF2-40B4-BE49-F238E27FC236}">
                <a16:creationId xmlns:a16="http://schemas.microsoft.com/office/drawing/2014/main" id="{FBC368EE-8B6B-4003-6E63-64D579AF4031}"/>
              </a:ext>
            </a:extLst>
          </p:cNvPr>
          <p:cNvSpPr txBox="1">
            <a:spLocks/>
          </p:cNvSpPr>
          <p:nvPr/>
        </p:nvSpPr>
        <p:spPr bwMode="gray">
          <a:xfrm>
            <a:off x="796593" y="2199993"/>
            <a:ext cx="2871493" cy="716293"/>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0" indent="0">
              <a:buNone/>
            </a:pPr>
            <a:r>
              <a:rPr lang="en-US" dirty="0"/>
              <a:t>Old TE9000</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
        <p:nvSpPr>
          <p:cNvPr id="12" name="Text Placeholder 3">
            <a:extLst>
              <a:ext uri="{FF2B5EF4-FFF2-40B4-BE49-F238E27FC236}">
                <a16:creationId xmlns:a16="http://schemas.microsoft.com/office/drawing/2014/main" id="{FCA880BB-5FB5-8F54-7AD1-7F927519B3CC}"/>
              </a:ext>
            </a:extLst>
          </p:cNvPr>
          <p:cNvSpPr txBox="1">
            <a:spLocks/>
          </p:cNvSpPr>
          <p:nvPr/>
        </p:nvSpPr>
        <p:spPr bwMode="gray">
          <a:xfrm>
            <a:off x="6801024" y="2142849"/>
            <a:ext cx="4228756" cy="629367"/>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0" indent="0">
              <a:buNone/>
            </a:pPr>
            <a:r>
              <a:rPr lang="en-US" dirty="0"/>
              <a:t>New TE9000</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Tree>
    <p:extLst>
      <p:ext uri="{BB962C8B-B14F-4D97-AF65-F5344CB8AC3E}">
        <p14:creationId xmlns:p14="http://schemas.microsoft.com/office/powerpoint/2010/main" val="4193516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Select SLS1 for each motor.</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575A09A1-0FD6-1D0C-AE9F-3EC3105EF343}"/>
              </a:ext>
            </a:extLst>
          </p:cNvPr>
          <p:cNvPicPr>
            <a:picLocks noChangeAspect="1"/>
          </p:cNvPicPr>
          <p:nvPr/>
        </p:nvPicPr>
        <p:blipFill>
          <a:blip r:embed="rId2"/>
          <a:stretch>
            <a:fillRect/>
          </a:stretch>
        </p:blipFill>
        <p:spPr>
          <a:xfrm>
            <a:off x="2971799" y="1608552"/>
            <a:ext cx="6096001" cy="5220596"/>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6629400" y="2819400"/>
            <a:ext cx="228600" cy="17526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12088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Change the project name to AX8000.</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33C42638-FE6F-95CE-7B75-306608A9CB98}"/>
              </a:ext>
            </a:extLst>
          </p:cNvPr>
          <p:cNvPicPr>
            <a:picLocks noChangeAspect="1"/>
          </p:cNvPicPr>
          <p:nvPr/>
        </p:nvPicPr>
        <p:blipFill>
          <a:blip r:embed="rId2"/>
          <a:stretch>
            <a:fillRect/>
          </a:stretch>
        </p:blipFill>
        <p:spPr>
          <a:xfrm>
            <a:off x="76200" y="2122128"/>
            <a:ext cx="5567361" cy="4735872"/>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1828800" y="3047999"/>
            <a:ext cx="1371600" cy="304801"/>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9" name="Picture 8">
            <a:extLst>
              <a:ext uri="{FF2B5EF4-FFF2-40B4-BE49-F238E27FC236}">
                <a16:creationId xmlns:a16="http://schemas.microsoft.com/office/drawing/2014/main" id="{D6A33437-58EE-CC43-CD19-2BA4F413B738}"/>
              </a:ext>
            </a:extLst>
          </p:cNvPr>
          <p:cNvPicPr>
            <a:picLocks noChangeAspect="1"/>
          </p:cNvPicPr>
          <p:nvPr/>
        </p:nvPicPr>
        <p:blipFill>
          <a:blip r:embed="rId3"/>
          <a:stretch>
            <a:fillRect/>
          </a:stretch>
        </p:blipFill>
        <p:spPr>
          <a:xfrm>
            <a:off x="6122633" y="2122128"/>
            <a:ext cx="3571875" cy="1704975"/>
          </a:xfrm>
          <a:prstGeom prst="rect">
            <a:avLst/>
          </a:prstGeom>
        </p:spPr>
      </p:pic>
      <p:sp>
        <p:nvSpPr>
          <p:cNvPr id="10" name="Rectangle 9">
            <a:extLst>
              <a:ext uri="{FF2B5EF4-FFF2-40B4-BE49-F238E27FC236}">
                <a16:creationId xmlns:a16="http://schemas.microsoft.com/office/drawing/2014/main" id="{22DA1E6D-7D7F-3D23-B553-FB18A4A23EDC}"/>
              </a:ext>
            </a:extLst>
          </p:cNvPr>
          <p:cNvSpPr/>
          <p:nvPr/>
        </p:nvSpPr>
        <p:spPr>
          <a:xfrm>
            <a:off x="6324600" y="2438400"/>
            <a:ext cx="1676400" cy="304801"/>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826712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Assign additional logic devices to our master EL6910</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CE2E39C7-6515-CBA9-8134-1E6D238B7799}"/>
              </a:ext>
            </a:extLst>
          </p:cNvPr>
          <p:cNvPicPr>
            <a:picLocks noChangeAspect="1"/>
          </p:cNvPicPr>
          <p:nvPr/>
        </p:nvPicPr>
        <p:blipFill>
          <a:blip r:embed="rId2"/>
          <a:stretch>
            <a:fillRect/>
          </a:stretch>
        </p:blipFill>
        <p:spPr>
          <a:xfrm>
            <a:off x="2" y="1794792"/>
            <a:ext cx="6153150" cy="5063208"/>
          </a:xfrm>
          <a:prstGeom prst="rect">
            <a:avLst/>
          </a:prstGeom>
        </p:spPr>
      </p:pic>
      <p:pic>
        <p:nvPicPr>
          <p:cNvPr id="9" name="Picture 8">
            <a:extLst>
              <a:ext uri="{FF2B5EF4-FFF2-40B4-BE49-F238E27FC236}">
                <a16:creationId xmlns:a16="http://schemas.microsoft.com/office/drawing/2014/main" id="{C92A5EE0-BDC3-CDDA-2D1C-DA00613D181B}"/>
              </a:ext>
            </a:extLst>
          </p:cNvPr>
          <p:cNvPicPr>
            <a:picLocks noChangeAspect="1"/>
          </p:cNvPicPr>
          <p:nvPr/>
        </p:nvPicPr>
        <p:blipFill>
          <a:blip r:embed="rId3"/>
          <a:stretch>
            <a:fillRect/>
          </a:stretch>
        </p:blipFill>
        <p:spPr>
          <a:xfrm>
            <a:off x="6438900" y="1794792"/>
            <a:ext cx="4914900" cy="4829175"/>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1828800" y="3276600"/>
            <a:ext cx="1219200" cy="3810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0" name="Rectangle 9">
            <a:extLst>
              <a:ext uri="{FF2B5EF4-FFF2-40B4-BE49-F238E27FC236}">
                <a16:creationId xmlns:a16="http://schemas.microsoft.com/office/drawing/2014/main" id="{C9DB5AE7-014E-4FCD-5EB3-CB0934FFA1FB}"/>
              </a:ext>
            </a:extLst>
          </p:cNvPr>
          <p:cNvSpPr/>
          <p:nvPr/>
        </p:nvSpPr>
        <p:spPr>
          <a:xfrm>
            <a:off x="6553200" y="2743200"/>
            <a:ext cx="228600" cy="3810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68683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3" y="1090799"/>
            <a:ext cx="6206912" cy="5331600"/>
          </a:xfrm>
        </p:spPr>
        <p:txBody>
          <a:bodyPr/>
          <a:lstStyle/>
          <a:p>
            <a:pPr marL="342900" indent="-342900">
              <a:buFont typeface="Arial" panose="020B0604020202020204" pitchFamily="34" charset="0"/>
              <a:buChar char="•"/>
            </a:pPr>
            <a:r>
              <a:rPr lang="en-US" dirty="0"/>
              <a:t>We can see the result of our selections.</a:t>
            </a:r>
          </a:p>
          <a:p>
            <a:pPr marL="342900" indent="-342900">
              <a:buFont typeface="Arial" panose="020B0604020202020204" pitchFamily="34" charset="0"/>
              <a:buChar char="•"/>
            </a:pPr>
            <a:r>
              <a:rPr lang="en-US" dirty="0"/>
              <a:t>Our master logic device is EL6910</a:t>
            </a:r>
          </a:p>
          <a:p>
            <a:pPr marL="342900" indent="-342900">
              <a:buFont typeface="Arial" panose="020B0604020202020204" pitchFamily="34" charset="0"/>
              <a:buChar char="•"/>
            </a:pPr>
            <a:r>
              <a:rPr lang="en-US" dirty="0"/>
              <a:t>Our master project is the EL6910 project.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Wizard will build additional projects with our selected Devices.</a:t>
            </a:r>
          </a:p>
          <a:p>
            <a:pPr marL="342900" indent="-342900">
              <a:buFont typeface="Arial" panose="020B0604020202020204" pitchFamily="34" charset="0"/>
              <a:buChar char="•"/>
            </a:pPr>
            <a:r>
              <a:rPr lang="en-US" dirty="0"/>
              <a:t>Additional projects will communicate    back to a Master project/logic device. EL6910 in this case.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C1507F83-A7F0-8C60-DDA9-A954E4E241FF}"/>
              </a:ext>
            </a:extLst>
          </p:cNvPr>
          <p:cNvPicPr>
            <a:picLocks noChangeAspect="1"/>
          </p:cNvPicPr>
          <p:nvPr/>
        </p:nvPicPr>
        <p:blipFill>
          <a:blip r:embed="rId2"/>
          <a:stretch>
            <a:fillRect/>
          </a:stretch>
        </p:blipFill>
        <p:spPr>
          <a:xfrm>
            <a:off x="5861264" y="2057400"/>
            <a:ext cx="6206911" cy="4800600"/>
          </a:xfrm>
          <a:prstGeom prst="rect">
            <a:avLst/>
          </a:prstGeom>
        </p:spPr>
      </p:pic>
      <p:sp>
        <p:nvSpPr>
          <p:cNvPr id="6" name="Rectangle 5">
            <a:extLst>
              <a:ext uri="{FF2B5EF4-FFF2-40B4-BE49-F238E27FC236}">
                <a16:creationId xmlns:a16="http://schemas.microsoft.com/office/drawing/2014/main" id="{BEEF4880-C0D0-4167-D346-48B347875A22}"/>
              </a:ext>
            </a:extLst>
          </p:cNvPr>
          <p:cNvSpPr/>
          <p:nvPr/>
        </p:nvSpPr>
        <p:spPr>
          <a:xfrm>
            <a:off x="7620000" y="3276600"/>
            <a:ext cx="2895600" cy="2286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8397FF80-DACD-314B-0D02-BBD6053E1029}"/>
              </a:ext>
            </a:extLst>
          </p:cNvPr>
          <p:cNvSpPr/>
          <p:nvPr/>
        </p:nvSpPr>
        <p:spPr>
          <a:xfrm>
            <a:off x="7620000" y="3516296"/>
            <a:ext cx="3505200" cy="674703"/>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9" name="Rectangle 8">
            <a:extLst>
              <a:ext uri="{FF2B5EF4-FFF2-40B4-BE49-F238E27FC236}">
                <a16:creationId xmlns:a16="http://schemas.microsoft.com/office/drawing/2014/main" id="{4F83687E-AAD2-5418-1218-5F820981D275}"/>
              </a:ext>
            </a:extLst>
          </p:cNvPr>
          <p:cNvSpPr/>
          <p:nvPr/>
        </p:nvSpPr>
        <p:spPr>
          <a:xfrm>
            <a:off x="7620000" y="4202096"/>
            <a:ext cx="2590800" cy="26970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30663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Finally, we have the option to set the Safe Addresses for the logic devices.</a:t>
            </a:r>
          </a:p>
          <a:p>
            <a:pPr marL="342900" indent="-342900">
              <a:buFont typeface="Arial" panose="020B0604020202020204" pitchFamily="34" charset="0"/>
              <a:buChar char="•"/>
            </a:pPr>
            <a:r>
              <a:rPr lang="en-US" dirty="0"/>
              <a:t>Keep defaults and click finish.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0" indent="0">
              <a:buNone/>
            </a:pPr>
            <a:r>
              <a:rPr lang="en-US" dirty="0"/>
              <a:t>Note:</a:t>
            </a:r>
          </a:p>
          <a:p>
            <a:pPr marL="342900" indent="-342900">
              <a:buFont typeface="Arial" panose="020B0604020202020204" pitchFamily="34" charset="0"/>
              <a:buChar char="•"/>
            </a:pPr>
            <a:r>
              <a:rPr lang="en-US" dirty="0"/>
              <a:t>If the system is offline the safe </a:t>
            </a:r>
            <a:br>
              <a:rPr lang="en-US" dirty="0"/>
            </a:br>
            <a:r>
              <a:rPr lang="en-US" dirty="0"/>
              <a:t>addresses must be setup manually. </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60D4759A-DAD3-1F61-911D-E974756D2B3B}"/>
              </a:ext>
            </a:extLst>
          </p:cNvPr>
          <p:cNvPicPr>
            <a:picLocks noChangeAspect="1"/>
          </p:cNvPicPr>
          <p:nvPr/>
        </p:nvPicPr>
        <p:blipFill>
          <a:blip r:embed="rId2"/>
          <a:stretch>
            <a:fillRect/>
          </a:stretch>
        </p:blipFill>
        <p:spPr>
          <a:xfrm>
            <a:off x="5596453" y="1828800"/>
            <a:ext cx="6595547" cy="5029200"/>
          </a:xfrm>
          <a:prstGeom prst="rect">
            <a:avLst/>
          </a:prstGeom>
        </p:spPr>
      </p:pic>
    </p:spTree>
    <p:extLst>
      <p:ext uri="{BB962C8B-B14F-4D97-AF65-F5344CB8AC3E}">
        <p14:creationId xmlns:p14="http://schemas.microsoft.com/office/powerpoint/2010/main" val="3041108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A pop up lets you know the projects were created successfully.</a:t>
            </a:r>
          </a:p>
          <a:p>
            <a:pPr marL="342900" indent="-342900">
              <a:buFont typeface="Arial" panose="020B0604020202020204" pitchFamily="34" charset="0"/>
              <a:buChar char="•"/>
            </a:pPr>
            <a:r>
              <a:rPr lang="en-US" dirty="0"/>
              <a:t>Our AX8000 project has now been created.</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8" name="Picture 7">
            <a:extLst>
              <a:ext uri="{FF2B5EF4-FFF2-40B4-BE49-F238E27FC236}">
                <a16:creationId xmlns:a16="http://schemas.microsoft.com/office/drawing/2014/main" id="{3087161A-E8A6-4CD6-B272-0FFD8648DE43}"/>
              </a:ext>
            </a:extLst>
          </p:cNvPr>
          <p:cNvPicPr>
            <a:picLocks noChangeAspect="1"/>
          </p:cNvPicPr>
          <p:nvPr/>
        </p:nvPicPr>
        <p:blipFill>
          <a:blip r:embed="rId2"/>
          <a:stretch>
            <a:fillRect/>
          </a:stretch>
        </p:blipFill>
        <p:spPr>
          <a:xfrm>
            <a:off x="762000" y="2667000"/>
            <a:ext cx="3425952" cy="3893127"/>
          </a:xfrm>
          <a:prstGeom prst="rect">
            <a:avLst/>
          </a:prstGeom>
        </p:spPr>
      </p:pic>
      <p:pic>
        <p:nvPicPr>
          <p:cNvPr id="10" name="Picture 9">
            <a:extLst>
              <a:ext uri="{FF2B5EF4-FFF2-40B4-BE49-F238E27FC236}">
                <a16:creationId xmlns:a16="http://schemas.microsoft.com/office/drawing/2014/main" id="{5315EBDF-EE9A-A8C6-6359-68277DCD17BC}"/>
              </a:ext>
            </a:extLst>
          </p:cNvPr>
          <p:cNvPicPr>
            <a:picLocks noChangeAspect="1"/>
          </p:cNvPicPr>
          <p:nvPr/>
        </p:nvPicPr>
        <p:blipFill>
          <a:blip r:embed="rId3"/>
          <a:stretch>
            <a:fillRect/>
          </a:stretch>
        </p:blipFill>
        <p:spPr>
          <a:xfrm>
            <a:off x="5638800" y="2819400"/>
            <a:ext cx="5076825" cy="3095625"/>
          </a:xfrm>
          <a:prstGeom prst="rect">
            <a:avLst/>
          </a:prstGeom>
        </p:spPr>
      </p:pic>
    </p:spTree>
    <p:extLst>
      <p:ext uri="{BB962C8B-B14F-4D97-AF65-F5344CB8AC3E}">
        <p14:creationId xmlns:p14="http://schemas.microsoft.com/office/powerpoint/2010/main" val="3512123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3" y="1090799"/>
            <a:ext cx="4952998" cy="5331600"/>
          </a:xfrm>
        </p:spPr>
        <p:txBody>
          <a:bodyPr/>
          <a:lstStyle/>
          <a:p>
            <a:pPr marL="342900" indent="-342900">
              <a:buFont typeface="Arial" panose="020B0604020202020204" pitchFamily="34" charset="0"/>
              <a:buChar char="•"/>
            </a:pPr>
            <a:r>
              <a:rPr lang="en-US" dirty="0"/>
              <a:t>Example…</a:t>
            </a:r>
            <a:br>
              <a:rPr lang="en-US" dirty="0"/>
            </a:br>
            <a:endParaRPr lang="en-US" dirty="0"/>
          </a:p>
          <a:p>
            <a:pPr marL="695700" lvl="1" indent="-342900">
              <a:buFont typeface="Arial" panose="020B0604020202020204" pitchFamily="34" charset="0"/>
              <a:buChar char="•"/>
            </a:pPr>
            <a:r>
              <a:rPr lang="en-US" sz="2000" dirty="0"/>
              <a:t>Drives with the same selected functions will be grouped together in the coming steps </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5392AFC1-995E-FAE8-FDE6-268D4F74901C}"/>
              </a:ext>
            </a:extLst>
          </p:cNvPr>
          <p:cNvPicPr>
            <a:picLocks noChangeAspect="1"/>
          </p:cNvPicPr>
          <p:nvPr/>
        </p:nvPicPr>
        <p:blipFill>
          <a:blip r:embed="rId2"/>
          <a:stretch>
            <a:fillRect/>
          </a:stretch>
        </p:blipFill>
        <p:spPr>
          <a:xfrm>
            <a:off x="5275721" y="1371600"/>
            <a:ext cx="6916279" cy="5264213"/>
          </a:xfrm>
          <a:prstGeom prst="rect">
            <a:avLst/>
          </a:prstGeom>
        </p:spPr>
      </p:pic>
      <p:sp>
        <p:nvSpPr>
          <p:cNvPr id="8" name="Rectangle 7">
            <a:extLst>
              <a:ext uri="{FF2B5EF4-FFF2-40B4-BE49-F238E27FC236}">
                <a16:creationId xmlns:a16="http://schemas.microsoft.com/office/drawing/2014/main" id="{7113D4AC-789D-7FAD-ABE2-873586B87A72}"/>
              </a:ext>
            </a:extLst>
          </p:cNvPr>
          <p:cNvSpPr/>
          <p:nvPr/>
        </p:nvSpPr>
        <p:spPr>
          <a:xfrm>
            <a:off x="8382000" y="2971800"/>
            <a:ext cx="228600" cy="762000"/>
          </a:xfrm>
          <a:prstGeom prst="rect">
            <a:avLst/>
          </a:prstGeom>
          <a:noFill/>
          <a:ln w="28575">
            <a:solidFill>
              <a:srgbClr val="00B05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9" name="Rectangle 8">
            <a:extLst>
              <a:ext uri="{FF2B5EF4-FFF2-40B4-BE49-F238E27FC236}">
                <a16:creationId xmlns:a16="http://schemas.microsoft.com/office/drawing/2014/main" id="{8C579D89-A84A-0062-058C-246C87B25460}"/>
              </a:ext>
            </a:extLst>
          </p:cNvPr>
          <p:cNvSpPr/>
          <p:nvPr/>
        </p:nvSpPr>
        <p:spPr>
          <a:xfrm>
            <a:off x="7543800" y="3733799"/>
            <a:ext cx="381000" cy="460695"/>
          </a:xfrm>
          <a:prstGeom prst="rect">
            <a:avLst/>
          </a:prstGeom>
          <a:noFill/>
          <a:ln w="285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0" name="Rectangle 9">
            <a:extLst>
              <a:ext uri="{FF2B5EF4-FFF2-40B4-BE49-F238E27FC236}">
                <a16:creationId xmlns:a16="http://schemas.microsoft.com/office/drawing/2014/main" id="{15BDD412-3A12-94F0-710A-609D1B10ED04}"/>
              </a:ext>
            </a:extLst>
          </p:cNvPr>
          <p:cNvSpPr/>
          <p:nvPr/>
        </p:nvSpPr>
        <p:spPr>
          <a:xfrm>
            <a:off x="8933320" y="4114800"/>
            <a:ext cx="210680" cy="526986"/>
          </a:xfrm>
          <a:prstGeom prst="rect">
            <a:avLst/>
          </a:prstGeom>
          <a:noFill/>
          <a:ln w="28575">
            <a:solidFill>
              <a:srgbClr val="FF99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1" name="Rectangle 10">
            <a:extLst>
              <a:ext uri="{FF2B5EF4-FFF2-40B4-BE49-F238E27FC236}">
                <a16:creationId xmlns:a16="http://schemas.microsoft.com/office/drawing/2014/main" id="{39DFC93C-AF28-1A0D-A78F-62EC6005CC6E}"/>
              </a:ext>
            </a:extLst>
          </p:cNvPr>
          <p:cNvSpPr/>
          <p:nvPr/>
        </p:nvSpPr>
        <p:spPr>
          <a:xfrm>
            <a:off x="8399920" y="4572000"/>
            <a:ext cx="210680" cy="457200"/>
          </a:xfrm>
          <a:prstGeom prst="rect">
            <a:avLst/>
          </a:prstGeom>
          <a:noFill/>
          <a:ln w="28575">
            <a:solidFill>
              <a:srgbClr val="00B05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2" name="Rectangle 11">
            <a:extLst>
              <a:ext uri="{FF2B5EF4-FFF2-40B4-BE49-F238E27FC236}">
                <a16:creationId xmlns:a16="http://schemas.microsoft.com/office/drawing/2014/main" id="{6A4C8B3D-05B9-B9E8-9B66-F4729C2B6683}"/>
              </a:ext>
            </a:extLst>
          </p:cNvPr>
          <p:cNvSpPr/>
          <p:nvPr/>
        </p:nvSpPr>
        <p:spPr>
          <a:xfrm>
            <a:off x="7543800" y="4949504"/>
            <a:ext cx="381000" cy="460695"/>
          </a:xfrm>
          <a:prstGeom prst="rect">
            <a:avLst/>
          </a:prstGeom>
          <a:noFill/>
          <a:ln w="285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3" name="Rectangle 12">
            <a:extLst>
              <a:ext uri="{FF2B5EF4-FFF2-40B4-BE49-F238E27FC236}">
                <a16:creationId xmlns:a16="http://schemas.microsoft.com/office/drawing/2014/main" id="{531283E1-CB36-4FF9-9E8A-2CB2F714FB17}"/>
              </a:ext>
            </a:extLst>
          </p:cNvPr>
          <p:cNvSpPr/>
          <p:nvPr/>
        </p:nvSpPr>
        <p:spPr>
          <a:xfrm>
            <a:off x="8933320" y="5410199"/>
            <a:ext cx="210680" cy="457201"/>
          </a:xfrm>
          <a:prstGeom prst="rect">
            <a:avLst/>
          </a:prstGeom>
          <a:noFill/>
          <a:ln w="28575">
            <a:solidFill>
              <a:srgbClr val="FF99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4094852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Example continued…</a:t>
            </a:r>
          </a:p>
          <a:p>
            <a:pPr marL="695700" lvl="1" indent="-342900">
              <a:buFont typeface="Arial" panose="020B0604020202020204" pitchFamily="34" charset="0"/>
              <a:buChar char="•"/>
            </a:pPr>
            <a:r>
              <a:rPr lang="en-US" sz="2000" dirty="0"/>
              <a:t>Notice the grouping of the drives from the previous example.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F20AD061-AF22-34F5-5383-16475BB28F3D}"/>
              </a:ext>
            </a:extLst>
          </p:cNvPr>
          <p:cNvPicPr>
            <a:picLocks noChangeAspect="1"/>
          </p:cNvPicPr>
          <p:nvPr/>
        </p:nvPicPr>
        <p:blipFill>
          <a:blip r:embed="rId2"/>
          <a:stretch>
            <a:fillRect/>
          </a:stretch>
        </p:blipFill>
        <p:spPr>
          <a:xfrm>
            <a:off x="4876800" y="2111434"/>
            <a:ext cx="7162800" cy="4741442"/>
          </a:xfrm>
          <a:prstGeom prst="rect">
            <a:avLst/>
          </a:prstGeom>
        </p:spPr>
      </p:pic>
      <p:sp>
        <p:nvSpPr>
          <p:cNvPr id="8" name="Rectangle 7">
            <a:extLst>
              <a:ext uri="{FF2B5EF4-FFF2-40B4-BE49-F238E27FC236}">
                <a16:creationId xmlns:a16="http://schemas.microsoft.com/office/drawing/2014/main" id="{619630D5-7A0C-F145-50E6-346A3CB5FC56}"/>
              </a:ext>
            </a:extLst>
          </p:cNvPr>
          <p:cNvSpPr/>
          <p:nvPr/>
        </p:nvSpPr>
        <p:spPr>
          <a:xfrm>
            <a:off x="6858000" y="3200400"/>
            <a:ext cx="4343400" cy="1143000"/>
          </a:xfrm>
          <a:prstGeom prst="rect">
            <a:avLst/>
          </a:prstGeom>
          <a:noFill/>
          <a:ln w="28575">
            <a:solidFill>
              <a:srgbClr val="00B05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1" name="Rectangle 10">
            <a:extLst>
              <a:ext uri="{FF2B5EF4-FFF2-40B4-BE49-F238E27FC236}">
                <a16:creationId xmlns:a16="http://schemas.microsoft.com/office/drawing/2014/main" id="{4033073B-0CBC-64A4-17D6-33F4C953D609}"/>
              </a:ext>
            </a:extLst>
          </p:cNvPr>
          <p:cNvSpPr/>
          <p:nvPr/>
        </p:nvSpPr>
        <p:spPr>
          <a:xfrm>
            <a:off x="6846814" y="5432365"/>
            <a:ext cx="4343398" cy="964069"/>
          </a:xfrm>
          <a:prstGeom prst="rect">
            <a:avLst/>
          </a:prstGeom>
          <a:noFill/>
          <a:ln w="28575">
            <a:solidFill>
              <a:srgbClr val="FF99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2" name="Rectangle 11">
            <a:extLst>
              <a:ext uri="{FF2B5EF4-FFF2-40B4-BE49-F238E27FC236}">
                <a16:creationId xmlns:a16="http://schemas.microsoft.com/office/drawing/2014/main" id="{4266B0C2-5D65-2EB9-FB50-7CB5F4C996F4}"/>
              </a:ext>
            </a:extLst>
          </p:cNvPr>
          <p:cNvSpPr/>
          <p:nvPr/>
        </p:nvSpPr>
        <p:spPr>
          <a:xfrm>
            <a:off x="6858000" y="4399966"/>
            <a:ext cx="4343399" cy="964070"/>
          </a:xfrm>
          <a:prstGeom prst="rect">
            <a:avLst/>
          </a:prstGeom>
          <a:noFill/>
          <a:ln w="285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4" name="Picture 13">
            <a:extLst>
              <a:ext uri="{FF2B5EF4-FFF2-40B4-BE49-F238E27FC236}">
                <a16:creationId xmlns:a16="http://schemas.microsoft.com/office/drawing/2014/main" id="{1A425FA9-6B5C-9A36-7340-0D82797275AC}"/>
              </a:ext>
            </a:extLst>
          </p:cNvPr>
          <p:cNvPicPr>
            <a:picLocks noChangeAspect="1"/>
          </p:cNvPicPr>
          <p:nvPr/>
        </p:nvPicPr>
        <p:blipFill>
          <a:blip r:embed="rId3"/>
          <a:stretch>
            <a:fillRect/>
          </a:stretch>
        </p:blipFill>
        <p:spPr>
          <a:xfrm>
            <a:off x="2" y="3476450"/>
            <a:ext cx="3482130" cy="3385045"/>
          </a:xfrm>
          <a:prstGeom prst="rect">
            <a:avLst/>
          </a:prstGeom>
        </p:spPr>
      </p:pic>
      <p:cxnSp>
        <p:nvCxnSpPr>
          <p:cNvPr id="15" name="Straight Arrow Connector 14">
            <a:extLst>
              <a:ext uri="{FF2B5EF4-FFF2-40B4-BE49-F238E27FC236}">
                <a16:creationId xmlns:a16="http://schemas.microsoft.com/office/drawing/2014/main" id="{02DEF7E7-B65A-A769-B4ED-F438F584033E}"/>
              </a:ext>
            </a:extLst>
          </p:cNvPr>
          <p:cNvCxnSpPr>
            <a:cxnSpLocks/>
          </p:cNvCxnSpPr>
          <p:nvPr/>
        </p:nvCxnSpPr>
        <p:spPr>
          <a:xfrm flipV="1">
            <a:off x="3581400" y="4953000"/>
            <a:ext cx="2286000" cy="599709"/>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379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5738357" cy="5331600"/>
          </a:xfrm>
        </p:spPr>
        <p:txBody>
          <a:bodyPr/>
          <a:lstStyle/>
          <a:p>
            <a:pPr marL="342900" indent="-342900">
              <a:buFont typeface="Arial" panose="020B0604020202020204" pitchFamily="34" charset="0"/>
              <a:buChar char="•"/>
            </a:pPr>
            <a:r>
              <a:rPr lang="en-US" dirty="0"/>
              <a:t>Example continued…</a:t>
            </a:r>
            <a:br>
              <a:rPr lang="en-US" dirty="0"/>
            </a:br>
            <a:endParaRPr lang="en-US" dirty="0"/>
          </a:p>
          <a:p>
            <a:pPr marL="695700" lvl="1" indent="-342900">
              <a:buFont typeface="Arial" panose="020B0604020202020204" pitchFamily="34" charset="0"/>
              <a:buChar char="•"/>
            </a:pPr>
            <a:r>
              <a:rPr lang="en-US" sz="2000" dirty="0"/>
              <a:t>In this scenario, we have two EL6910s in the IO. One of them already has a safety project configured. The other does not. </a:t>
            </a:r>
            <a:br>
              <a:rPr lang="en-US" sz="2000" dirty="0"/>
            </a:br>
            <a:endParaRPr lang="en-US" sz="2000" dirty="0"/>
          </a:p>
          <a:p>
            <a:pPr marL="695700" lvl="1" indent="-342900">
              <a:buFont typeface="Arial" panose="020B0604020202020204" pitchFamily="34" charset="0"/>
              <a:buChar char="•"/>
            </a:pPr>
            <a:r>
              <a:rPr lang="en-US" sz="2000" dirty="0"/>
              <a:t>The EL6910 that does not have a safety project configured yet stands out with </a:t>
            </a:r>
            <a:r>
              <a:rPr lang="en-US" sz="2000" b="1" dirty="0">
                <a:solidFill>
                  <a:srgbClr val="FF0000"/>
                </a:solidFill>
              </a:rPr>
              <a:t>NEW!</a:t>
            </a:r>
            <a:endParaRPr lang="en-US" sz="2400" b="1" dirty="0">
              <a:solidFill>
                <a:srgbClr val="FF0000"/>
              </a:solidFill>
            </a:endParaRP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2F4BD588-1AAB-2569-F234-50C496986D40}"/>
              </a:ext>
            </a:extLst>
          </p:cNvPr>
          <p:cNvPicPr>
            <a:picLocks noChangeAspect="1"/>
          </p:cNvPicPr>
          <p:nvPr/>
        </p:nvPicPr>
        <p:blipFill>
          <a:blip r:embed="rId2"/>
          <a:stretch>
            <a:fillRect/>
          </a:stretch>
        </p:blipFill>
        <p:spPr>
          <a:xfrm>
            <a:off x="5867400" y="2255981"/>
            <a:ext cx="5738357" cy="4145639"/>
          </a:xfrm>
          <a:prstGeom prst="rect">
            <a:avLst/>
          </a:prstGeom>
        </p:spPr>
      </p:pic>
    </p:spTree>
    <p:extLst>
      <p:ext uri="{BB962C8B-B14F-4D97-AF65-F5344CB8AC3E}">
        <p14:creationId xmlns:p14="http://schemas.microsoft.com/office/powerpoint/2010/main" val="2274042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5738357" cy="5331600"/>
          </a:xfrm>
        </p:spPr>
        <p:txBody>
          <a:bodyPr/>
          <a:lstStyle/>
          <a:p>
            <a:pPr marL="342900" indent="-342900">
              <a:buFont typeface="Arial" panose="020B0604020202020204" pitchFamily="34" charset="0"/>
              <a:buChar char="•"/>
            </a:pPr>
            <a:r>
              <a:rPr lang="en-US" dirty="0"/>
              <a:t>Example continued…</a:t>
            </a:r>
          </a:p>
          <a:p>
            <a:pPr marL="695700" lvl="1" indent="-342900">
              <a:buFont typeface="Arial" panose="020B0604020202020204" pitchFamily="34" charset="0"/>
              <a:buChar char="•"/>
            </a:pPr>
            <a:r>
              <a:rPr lang="en-US" dirty="0"/>
              <a:t>Group setting is something we still need clarification on.</a:t>
            </a:r>
          </a:p>
          <a:p>
            <a:pPr marL="695700" lvl="1" indent="-342900">
              <a:buFont typeface="Arial" panose="020B0604020202020204" pitchFamily="34" charset="0"/>
              <a:buChar char="•"/>
            </a:pPr>
            <a:r>
              <a:rPr lang="en-US" dirty="0"/>
              <a:t>In this I show a picture of no groups, once I selected Drive 5, the wizard will automatically check the boxes for Drive 1 and Drive 3.</a:t>
            </a:r>
          </a:p>
          <a:p>
            <a:pPr marL="1055700" lvl="2" indent="-342900">
              <a:buFont typeface="Arial" panose="020B0604020202020204" pitchFamily="34" charset="0"/>
              <a:buChar char="•"/>
            </a:pPr>
            <a:r>
              <a:rPr lang="en-US" dirty="0"/>
              <a:t>This is because of our Functions that we previously selected.</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1FD5AB79-CBE1-CB69-BCF4-53ACFCB8493D}"/>
              </a:ext>
            </a:extLst>
          </p:cNvPr>
          <p:cNvPicPr>
            <a:picLocks noChangeAspect="1"/>
          </p:cNvPicPr>
          <p:nvPr/>
        </p:nvPicPr>
        <p:blipFill>
          <a:blip r:embed="rId2"/>
          <a:stretch>
            <a:fillRect/>
          </a:stretch>
        </p:blipFill>
        <p:spPr>
          <a:xfrm>
            <a:off x="8518840" y="3329634"/>
            <a:ext cx="3673158" cy="3528366"/>
          </a:xfrm>
          <a:prstGeom prst="rect">
            <a:avLst/>
          </a:prstGeom>
        </p:spPr>
      </p:pic>
      <p:pic>
        <p:nvPicPr>
          <p:cNvPr id="8" name="Picture 7">
            <a:extLst>
              <a:ext uri="{FF2B5EF4-FFF2-40B4-BE49-F238E27FC236}">
                <a16:creationId xmlns:a16="http://schemas.microsoft.com/office/drawing/2014/main" id="{1670D775-1B45-2F32-32C1-9744AFFDC596}"/>
              </a:ext>
            </a:extLst>
          </p:cNvPr>
          <p:cNvPicPr>
            <a:picLocks noChangeAspect="1"/>
          </p:cNvPicPr>
          <p:nvPr/>
        </p:nvPicPr>
        <p:blipFill>
          <a:blip r:embed="rId3"/>
          <a:stretch>
            <a:fillRect/>
          </a:stretch>
        </p:blipFill>
        <p:spPr>
          <a:xfrm>
            <a:off x="8594415" y="1305026"/>
            <a:ext cx="3086367" cy="1813717"/>
          </a:xfrm>
          <a:prstGeom prst="rect">
            <a:avLst/>
          </a:prstGeom>
        </p:spPr>
      </p:pic>
    </p:spTree>
    <p:extLst>
      <p:ext uri="{BB962C8B-B14F-4D97-AF65-F5344CB8AC3E}">
        <p14:creationId xmlns:p14="http://schemas.microsoft.com/office/powerpoint/2010/main" val="1644024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3" y="1090799"/>
            <a:ext cx="4718806" cy="5331600"/>
          </a:xfrm>
        </p:spPr>
        <p:txBody>
          <a:bodyPr/>
          <a:lstStyle/>
          <a:p>
            <a:pPr marL="342900" indent="-342900">
              <a:buFont typeface="Arial" panose="020B0604020202020204" pitchFamily="34" charset="0"/>
              <a:buChar char="•"/>
            </a:pPr>
            <a:r>
              <a:rPr lang="en-US" dirty="0"/>
              <a:t>Example continued…</a:t>
            </a:r>
            <a:br>
              <a:rPr lang="en-US" dirty="0"/>
            </a:br>
            <a:endParaRPr lang="en-US" dirty="0"/>
          </a:p>
          <a:p>
            <a:pPr marL="695700" lvl="1" indent="-342900">
              <a:buFont typeface="Arial" panose="020B0604020202020204" pitchFamily="34" charset="0"/>
              <a:buChar char="•"/>
            </a:pPr>
            <a:r>
              <a:rPr lang="en-US" sz="2000" dirty="0"/>
              <a:t>Project groups are being retained and shown here with their applicable EL6910 masters assigned.</a:t>
            </a:r>
          </a:p>
          <a:p>
            <a:pPr marL="695700" lvl="1" indent="-342900">
              <a:buFont typeface="Arial" panose="020B0604020202020204" pitchFamily="34" charset="0"/>
              <a:buChar char="•"/>
            </a:pPr>
            <a:r>
              <a:rPr lang="en-US" sz="2000" dirty="0"/>
              <a:t>Determines the Custom FSOE Connection alias linking.</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C2D0F744-0C6A-9D23-9A36-A03A2A2A734D}"/>
              </a:ext>
            </a:extLst>
          </p:cNvPr>
          <p:cNvPicPr>
            <a:picLocks noChangeAspect="1"/>
          </p:cNvPicPr>
          <p:nvPr/>
        </p:nvPicPr>
        <p:blipFill>
          <a:blip r:embed="rId2"/>
          <a:stretch>
            <a:fillRect/>
          </a:stretch>
        </p:blipFill>
        <p:spPr>
          <a:xfrm>
            <a:off x="4572000" y="1905000"/>
            <a:ext cx="7453006" cy="4801016"/>
          </a:xfrm>
          <a:prstGeom prst="rect">
            <a:avLst/>
          </a:prstGeom>
        </p:spPr>
      </p:pic>
      <p:sp>
        <p:nvSpPr>
          <p:cNvPr id="7" name="Rectangle 6">
            <a:extLst>
              <a:ext uri="{FF2B5EF4-FFF2-40B4-BE49-F238E27FC236}">
                <a16:creationId xmlns:a16="http://schemas.microsoft.com/office/drawing/2014/main" id="{131F6770-D5A0-3FA0-2259-436918142154}"/>
              </a:ext>
            </a:extLst>
          </p:cNvPr>
          <p:cNvSpPr/>
          <p:nvPr/>
        </p:nvSpPr>
        <p:spPr>
          <a:xfrm>
            <a:off x="7391400" y="3424806"/>
            <a:ext cx="3962400" cy="537594"/>
          </a:xfrm>
          <a:prstGeom prst="rect">
            <a:avLst/>
          </a:prstGeom>
          <a:noFill/>
          <a:ln w="28575">
            <a:solidFill>
              <a:srgbClr val="00B05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0" name="Rectangle 9">
            <a:extLst>
              <a:ext uri="{FF2B5EF4-FFF2-40B4-BE49-F238E27FC236}">
                <a16:creationId xmlns:a16="http://schemas.microsoft.com/office/drawing/2014/main" id="{BB91C97A-B13F-4D46-D71C-F0BE4C86C3EB}"/>
              </a:ext>
            </a:extLst>
          </p:cNvPr>
          <p:cNvSpPr/>
          <p:nvPr/>
        </p:nvSpPr>
        <p:spPr>
          <a:xfrm>
            <a:off x="7467600" y="5105400"/>
            <a:ext cx="3886200" cy="304800"/>
          </a:xfrm>
          <a:prstGeom prst="rect">
            <a:avLst/>
          </a:prstGeom>
          <a:noFill/>
          <a:ln w="19050">
            <a:solidFill>
              <a:srgbClr val="FF99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9" name="Rectangle 8">
            <a:extLst>
              <a:ext uri="{FF2B5EF4-FFF2-40B4-BE49-F238E27FC236}">
                <a16:creationId xmlns:a16="http://schemas.microsoft.com/office/drawing/2014/main" id="{8270D960-D51B-BDF4-4453-55D242FA15AE}"/>
              </a:ext>
            </a:extLst>
          </p:cNvPr>
          <p:cNvSpPr/>
          <p:nvPr/>
        </p:nvSpPr>
        <p:spPr>
          <a:xfrm>
            <a:off x="7473193" y="4776601"/>
            <a:ext cx="3880607" cy="304800"/>
          </a:xfrm>
          <a:prstGeom prst="rect">
            <a:avLst/>
          </a:prstGeom>
          <a:noFill/>
          <a:ln w="19050">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367770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6126" y="1100978"/>
            <a:ext cx="5917474" cy="5331600"/>
          </a:xfrm>
        </p:spPr>
        <p:txBody>
          <a:bodyPr/>
          <a:lstStyle/>
          <a:p>
            <a:pPr marL="342900" indent="-342900">
              <a:buFont typeface="Arial" panose="020B0604020202020204" pitchFamily="34" charset="0"/>
              <a:buChar char="•"/>
            </a:pPr>
            <a:r>
              <a:rPr lang="en-US" dirty="0"/>
              <a:t>Example conclusion…</a:t>
            </a:r>
            <a:br>
              <a:rPr lang="en-US" dirty="0"/>
            </a:br>
            <a:endParaRPr lang="en-US" dirty="0"/>
          </a:p>
          <a:p>
            <a:pPr marL="342900" indent="-342900">
              <a:buFont typeface="Arial" panose="020B0604020202020204" pitchFamily="34" charset="0"/>
              <a:buChar char="•"/>
            </a:pPr>
            <a:r>
              <a:rPr lang="en-US" sz="1800" dirty="0"/>
              <a:t>3 projects would be created.</a:t>
            </a:r>
          </a:p>
          <a:p>
            <a:pPr marL="342900" indent="-342900">
              <a:buFont typeface="Arial" panose="020B0604020202020204" pitchFamily="34" charset="0"/>
              <a:buChar char="•"/>
            </a:pPr>
            <a:r>
              <a:rPr lang="en-US" sz="1800" dirty="0"/>
              <a:t>Each project will have drives associated with the project function blocks.</a:t>
            </a:r>
          </a:p>
          <a:p>
            <a:pPr marL="342900" indent="-342900">
              <a:buFont typeface="Arial" panose="020B0604020202020204" pitchFamily="34" charset="0"/>
              <a:buChar char="•"/>
            </a:pPr>
            <a:r>
              <a:rPr lang="en-US" sz="1800" dirty="0"/>
              <a:t>When navigating in online view, you can select from a dropdown to navigate between the various drives and their online function block data. </a:t>
            </a:r>
          </a:p>
          <a:p>
            <a:pPr marL="695700" lvl="1" indent="-342900">
              <a:buFont typeface="Arial" panose="020B0604020202020204" pitchFamily="34" charset="0"/>
              <a:buChar char="•"/>
            </a:pPr>
            <a:r>
              <a:rPr lang="en-US" sz="1800" dirty="0"/>
              <a:t>This dropdown should NOT be used for development and should be treated as </a:t>
            </a:r>
            <a:br>
              <a:rPr lang="en-US" sz="1800" dirty="0"/>
            </a:br>
            <a:r>
              <a:rPr lang="en-US" sz="1800" dirty="0"/>
              <a:t>READ-ONLY. Any changes made in a .SAL will only change the Target System drive. </a:t>
            </a:r>
          </a:p>
          <a:p>
            <a:pPr marL="695700" lvl="1" indent="-342900">
              <a:buFont typeface="Arial" panose="020B0604020202020204" pitchFamily="34" charset="0"/>
              <a:buChar char="•"/>
            </a:pPr>
            <a:r>
              <a:rPr lang="en-US" sz="1800" dirty="0"/>
              <a:t>After this wizard is complete, changes made to subsequent drives FBs shall be made in the Multi-</a:t>
            </a:r>
            <a:r>
              <a:rPr lang="en-US" sz="1800" dirty="0" err="1"/>
              <a:t>Settings.sms</a:t>
            </a:r>
            <a:r>
              <a:rPr lang="en-US" sz="1800" dirty="0"/>
              <a:t> file.</a:t>
            </a:r>
          </a:p>
          <a:p>
            <a:pPr marL="695700" lvl="1" indent="-342900">
              <a:buFont typeface="Arial" panose="020B0604020202020204" pitchFamily="34" charset="0"/>
              <a:buChar char="•"/>
            </a:pPr>
            <a:r>
              <a:rPr lang="en-US" sz="1800" dirty="0"/>
              <a:t>Further explanation in later slides.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B559DC58-56AB-6882-437F-44BE0257666D}"/>
              </a:ext>
            </a:extLst>
          </p:cNvPr>
          <p:cNvPicPr>
            <a:picLocks noChangeAspect="1"/>
          </p:cNvPicPr>
          <p:nvPr/>
        </p:nvPicPr>
        <p:blipFill>
          <a:blip r:embed="rId2"/>
          <a:stretch>
            <a:fillRect/>
          </a:stretch>
        </p:blipFill>
        <p:spPr>
          <a:xfrm>
            <a:off x="7241449" y="1100978"/>
            <a:ext cx="4924425" cy="3705225"/>
          </a:xfrm>
          <a:prstGeom prst="rect">
            <a:avLst/>
          </a:prstGeom>
        </p:spPr>
      </p:pic>
      <p:pic>
        <p:nvPicPr>
          <p:cNvPr id="9" name="Picture 8">
            <a:extLst>
              <a:ext uri="{FF2B5EF4-FFF2-40B4-BE49-F238E27FC236}">
                <a16:creationId xmlns:a16="http://schemas.microsoft.com/office/drawing/2014/main" id="{9A6EF632-E564-7375-9B94-3041A0F2328E}"/>
              </a:ext>
            </a:extLst>
          </p:cNvPr>
          <p:cNvPicPr>
            <a:picLocks noChangeAspect="1"/>
          </p:cNvPicPr>
          <p:nvPr/>
        </p:nvPicPr>
        <p:blipFill>
          <a:blip r:embed="rId3"/>
          <a:stretch>
            <a:fillRect/>
          </a:stretch>
        </p:blipFill>
        <p:spPr>
          <a:xfrm>
            <a:off x="7543800" y="4842267"/>
            <a:ext cx="3667125" cy="1209675"/>
          </a:xfrm>
          <a:prstGeom prst="rect">
            <a:avLst/>
          </a:prstGeom>
        </p:spPr>
      </p:pic>
    </p:spTree>
    <p:extLst>
      <p:ext uri="{BB962C8B-B14F-4D97-AF65-F5344CB8AC3E}">
        <p14:creationId xmlns:p14="http://schemas.microsoft.com/office/powerpoint/2010/main" val="1140941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endParaRPr lang="en-US" dirty="0"/>
          </a:p>
          <a:p>
            <a:pPr marL="0" indent="0">
              <a:buNone/>
            </a:pPr>
            <a:endParaRPr lang="en-US" dirty="0"/>
          </a:p>
          <a:p>
            <a:pPr marL="342900" indent="-342900">
              <a:buFont typeface="Arial" panose="020B0604020202020204" pitchFamily="34" charset="0"/>
              <a:buChar char="•"/>
            </a:pPr>
            <a:r>
              <a:rPr lang="en-US" dirty="0"/>
              <a:t>PAUSE</a:t>
            </a:r>
          </a:p>
          <a:p>
            <a:pPr marL="342900" indent="-342900">
              <a:buFont typeface="Arial" panose="020B0604020202020204" pitchFamily="34" charset="0"/>
              <a:buChar char="•"/>
            </a:pPr>
            <a:r>
              <a:rPr lang="en-US" dirty="0"/>
              <a:t>How are we doing?</a:t>
            </a:r>
          </a:p>
          <a:p>
            <a:pPr marL="342900" indent="-342900">
              <a:buFont typeface="Arial" panose="020B0604020202020204" pitchFamily="34" charset="0"/>
              <a:buChar char="•"/>
            </a:pPr>
            <a:r>
              <a:rPr lang="en-US" dirty="0"/>
              <a:t>Any questions so far?</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spTree>
    <p:extLst>
      <p:ext uri="{BB962C8B-B14F-4D97-AF65-F5344CB8AC3E}">
        <p14:creationId xmlns:p14="http://schemas.microsoft.com/office/powerpoint/2010/main" val="1492468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5331600"/>
          </a:xfrm>
        </p:spPr>
        <p:txBody>
          <a:bodyPr/>
          <a:lstStyle/>
          <a:p>
            <a:pPr marL="342900" indent="-342900">
              <a:buFont typeface="Arial" panose="020B0604020202020204" pitchFamily="34" charset="0"/>
              <a:buChar char="•"/>
            </a:pPr>
            <a:r>
              <a:rPr lang="en-US" dirty="0"/>
              <a:t>Configure AX8000 project’s Target System.</a:t>
            </a:r>
          </a:p>
          <a:p>
            <a:pPr marL="342900" indent="-342900">
              <a:buFont typeface="Arial" panose="020B0604020202020204" pitchFamily="34" charset="0"/>
              <a:buChar char="•"/>
            </a:pPr>
            <a:r>
              <a:rPr lang="en-US" dirty="0"/>
              <a:t>Make Safe Address match Hardware Address.</a:t>
            </a:r>
          </a:p>
          <a:p>
            <a:pPr marL="342900" indent="-342900">
              <a:buFont typeface="Arial" panose="020B0604020202020204" pitchFamily="34" charset="0"/>
              <a:buChar char="•"/>
            </a:pPr>
            <a:r>
              <a:rPr lang="en-US" dirty="0"/>
              <a:t>Check boxes for Connection/Standard Inputs Outputs</a:t>
            </a:r>
          </a:p>
          <a:p>
            <a:pPr marL="342900" indent="-342900">
              <a:buFont typeface="Arial" panose="020B0604020202020204" pitchFamily="34" charset="0"/>
              <a:buChar char="•"/>
            </a:pPr>
            <a:r>
              <a:rPr lang="en-US" u="sng" dirty="0"/>
              <a:t>Save-All</a:t>
            </a:r>
          </a:p>
          <a:p>
            <a:pPr marL="342900" indent="-342900">
              <a:buFont typeface="Arial" panose="020B0604020202020204" pitchFamily="34" charset="0"/>
              <a:buChar char="•"/>
            </a:pPr>
            <a:r>
              <a:rPr lang="en-US" dirty="0"/>
              <a:t>Click yes for taking over existing links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1CE18BAB-D3A3-5106-0FAA-81A99F688B0E}"/>
              </a:ext>
            </a:extLst>
          </p:cNvPr>
          <p:cNvPicPr>
            <a:picLocks noChangeAspect="1"/>
          </p:cNvPicPr>
          <p:nvPr/>
        </p:nvPicPr>
        <p:blipFill>
          <a:blip r:embed="rId2"/>
          <a:stretch>
            <a:fillRect/>
          </a:stretch>
        </p:blipFill>
        <p:spPr>
          <a:xfrm>
            <a:off x="2" y="3401146"/>
            <a:ext cx="12192000" cy="3456854"/>
          </a:xfrm>
          <a:prstGeom prst="rect">
            <a:avLst/>
          </a:prstGeom>
        </p:spPr>
      </p:pic>
      <p:sp>
        <p:nvSpPr>
          <p:cNvPr id="6" name="Rectangle 5">
            <a:extLst>
              <a:ext uri="{FF2B5EF4-FFF2-40B4-BE49-F238E27FC236}">
                <a16:creationId xmlns:a16="http://schemas.microsoft.com/office/drawing/2014/main" id="{C8873F7D-06B6-1F89-BEB1-4475F3328B5E}"/>
              </a:ext>
            </a:extLst>
          </p:cNvPr>
          <p:cNvSpPr/>
          <p:nvPr/>
        </p:nvSpPr>
        <p:spPr>
          <a:xfrm>
            <a:off x="7200901" y="5767201"/>
            <a:ext cx="2895600" cy="640011"/>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7" name="Rectangle 6">
            <a:extLst>
              <a:ext uri="{FF2B5EF4-FFF2-40B4-BE49-F238E27FC236}">
                <a16:creationId xmlns:a16="http://schemas.microsoft.com/office/drawing/2014/main" id="{53060B34-5F37-01AA-2375-EDB8D625EC7B}"/>
              </a:ext>
            </a:extLst>
          </p:cNvPr>
          <p:cNvSpPr/>
          <p:nvPr/>
        </p:nvSpPr>
        <p:spPr>
          <a:xfrm>
            <a:off x="10137599" y="4953000"/>
            <a:ext cx="1978201" cy="1454212"/>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2" name="Picture 1">
            <a:extLst>
              <a:ext uri="{FF2B5EF4-FFF2-40B4-BE49-F238E27FC236}">
                <a16:creationId xmlns:a16="http://schemas.microsoft.com/office/drawing/2014/main" id="{995D4832-2F43-AD33-2C08-0A7FD3681E61}"/>
              </a:ext>
            </a:extLst>
          </p:cNvPr>
          <p:cNvPicPr>
            <a:picLocks noChangeAspect="1"/>
          </p:cNvPicPr>
          <p:nvPr/>
        </p:nvPicPr>
        <p:blipFill>
          <a:blip r:embed="rId3"/>
          <a:stretch>
            <a:fillRect/>
          </a:stretch>
        </p:blipFill>
        <p:spPr>
          <a:xfrm>
            <a:off x="9144000" y="1295400"/>
            <a:ext cx="2714625" cy="1838325"/>
          </a:xfrm>
          <a:prstGeom prst="rect">
            <a:avLst/>
          </a:prstGeom>
        </p:spPr>
      </p:pic>
    </p:spTree>
    <p:extLst>
      <p:ext uri="{BB962C8B-B14F-4D97-AF65-F5344CB8AC3E}">
        <p14:creationId xmlns:p14="http://schemas.microsoft.com/office/powerpoint/2010/main" val="1111617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728601"/>
          </a:xfrm>
        </p:spPr>
        <p:txBody>
          <a:bodyPr/>
          <a:lstStyle/>
          <a:p>
            <a:pPr marL="342900" indent="-342900">
              <a:buFont typeface="Arial" panose="020B0604020202020204" pitchFamily="34" charset="0"/>
              <a:buChar char="•"/>
            </a:pPr>
            <a:r>
              <a:rPr lang="en-US" dirty="0"/>
              <a:t>Navigate back to the EL6910 .</a:t>
            </a:r>
            <a:r>
              <a:rPr lang="en-US" dirty="0" err="1"/>
              <a:t>sal</a:t>
            </a:r>
            <a:endParaRPr lang="en-US" dirty="0"/>
          </a:p>
          <a:p>
            <a:pPr marL="342900" indent="-342900">
              <a:buFont typeface="Arial" panose="020B0604020202020204" pitchFamily="34" charset="0"/>
              <a:buChar char="•"/>
            </a:pPr>
            <a:r>
              <a:rPr lang="en-US" dirty="0"/>
              <a:t>Add </a:t>
            </a:r>
            <a:r>
              <a:rPr lang="en-US" dirty="0" err="1"/>
              <a:t>safeMon</a:t>
            </a:r>
            <a:r>
              <a:rPr lang="en-US" dirty="0"/>
              <a:t> block and variables, as shown below.</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307215ED-ABA7-6C65-453B-E0AA5F61C68D}"/>
              </a:ext>
            </a:extLst>
          </p:cNvPr>
          <p:cNvPicPr>
            <a:picLocks noChangeAspect="1"/>
          </p:cNvPicPr>
          <p:nvPr/>
        </p:nvPicPr>
        <p:blipFill>
          <a:blip r:embed="rId3"/>
          <a:stretch>
            <a:fillRect/>
          </a:stretch>
        </p:blipFill>
        <p:spPr>
          <a:xfrm>
            <a:off x="1295401" y="2212876"/>
            <a:ext cx="9144000" cy="4645124"/>
          </a:xfrm>
          <a:prstGeom prst="rect">
            <a:avLst/>
          </a:prstGeom>
        </p:spPr>
      </p:pic>
      <p:sp>
        <p:nvSpPr>
          <p:cNvPr id="7" name="Rectangle 6">
            <a:extLst>
              <a:ext uri="{FF2B5EF4-FFF2-40B4-BE49-F238E27FC236}">
                <a16:creationId xmlns:a16="http://schemas.microsoft.com/office/drawing/2014/main" id="{419B082B-F46A-315F-153F-735F06C10546}"/>
              </a:ext>
            </a:extLst>
          </p:cNvPr>
          <p:cNvSpPr/>
          <p:nvPr/>
        </p:nvSpPr>
        <p:spPr>
          <a:xfrm>
            <a:off x="5562600" y="3945441"/>
            <a:ext cx="1600200" cy="321759"/>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B4F387B6-8AD7-8C54-63DA-0BD80B5FBBB5}"/>
              </a:ext>
            </a:extLst>
          </p:cNvPr>
          <p:cNvSpPr/>
          <p:nvPr/>
        </p:nvSpPr>
        <p:spPr>
          <a:xfrm>
            <a:off x="7620000" y="5606321"/>
            <a:ext cx="762000" cy="321759"/>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9" name="Rectangle 8">
            <a:extLst>
              <a:ext uri="{FF2B5EF4-FFF2-40B4-BE49-F238E27FC236}">
                <a16:creationId xmlns:a16="http://schemas.microsoft.com/office/drawing/2014/main" id="{CB22D2EC-A61F-661D-231C-8BE25CE80B97}"/>
              </a:ext>
            </a:extLst>
          </p:cNvPr>
          <p:cNvSpPr/>
          <p:nvPr/>
        </p:nvSpPr>
        <p:spPr>
          <a:xfrm>
            <a:off x="9096375" y="5481958"/>
            <a:ext cx="1190625" cy="57048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905762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195201"/>
          </a:xfrm>
        </p:spPr>
        <p:txBody>
          <a:bodyPr/>
          <a:lstStyle/>
          <a:p>
            <a:pPr marL="342900" indent="-342900">
              <a:buFont typeface="Arial" panose="020B0604020202020204" pitchFamily="34" charset="0"/>
              <a:buChar char="•"/>
            </a:pPr>
            <a:r>
              <a:rPr lang="en-US" dirty="0"/>
              <a:t>Add a </a:t>
            </a:r>
            <a:r>
              <a:rPr lang="en-US" dirty="0" err="1"/>
              <a:t>safeDecouple</a:t>
            </a:r>
            <a:r>
              <a:rPr lang="en-US" dirty="0"/>
              <a:t> block</a:t>
            </a:r>
          </a:p>
          <a:p>
            <a:pPr marL="342900" indent="-342900">
              <a:buFont typeface="Arial" panose="020B0604020202020204" pitchFamily="34" charset="0"/>
              <a:buChar char="•"/>
            </a:pPr>
            <a:r>
              <a:rPr lang="en-US" dirty="0"/>
              <a:t>Add variables as shown below.</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FC06B9E9-36AD-3F94-FFE7-2F61F324C362}"/>
              </a:ext>
            </a:extLst>
          </p:cNvPr>
          <p:cNvPicPr>
            <a:picLocks noChangeAspect="1"/>
          </p:cNvPicPr>
          <p:nvPr/>
        </p:nvPicPr>
        <p:blipFill>
          <a:blip r:embed="rId3"/>
          <a:stretch>
            <a:fillRect/>
          </a:stretch>
        </p:blipFill>
        <p:spPr>
          <a:xfrm>
            <a:off x="228600" y="2286000"/>
            <a:ext cx="11049001" cy="4548189"/>
          </a:xfrm>
          <a:prstGeom prst="rect">
            <a:avLst/>
          </a:prstGeom>
        </p:spPr>
      </p:pic>
      <p:sp>
        <p:nvSpPr>
          <p:cNvPr id="7" name="Rectangle 6">
            <a:extLst>
              <a:ext uri="{FF2B5EF4-FFF2-40B4-BE49-F238E27FC236}">
                <a16:creationId xmlns:a16="http://schemas.microsoft.com/office/drawing/2014/main" id="{15E8DB06-FC6F-A325-C1E0-0FD2D1473F36}"/>
              </a:ext>
            </a:extLst>
          </p:cNvPr>
          <p:cNvSpPr/>
          <p:nvPr/>
        </p:nvSpPr>
        <p:spPr>
          <a:xfrm>
            <a:off x="6705600" y="3939667"/>
            <a:ext cx="4495800" cy="321759"/>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929415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271401"/>
          </a:xfrm>
        </p:spPr>
        <p:txBody>
          <a:bodyPr/>
          <a:lstStyle/>
          <a:p>
            <a:pPr marL="342900" indent="-342900">
              <a:buFont typeface="Arial" panose="020B0604020202020204" pitchFamily="34" charset="0"/>
              <a:buChar char="•"/>
            </a:pPr>
            <a:r>
              <a:rPr lang="en-US" dirty="0"/>
              <a:t>Add a </a:t>
            </a:r>
            <a:r>
              <a:rPr lang="en-US" dirty="0" err="1"/>
              <a:t>SafeAnd</a:t>
            </a:r>
            <a:r>
              <a:rPr lang="en-US" dirty="0"/>
              <a:t> block</a:t>
            </a:r>
          </a:p>
          <a:p>
            <a:pPr marL="342900" indent="-342900">
              <a:buFont typeface="Arial" panose="020B0604020202020204" pitchFamily="34" charset="0"/>
              <a:buChar char="•"/>
            </a:pPr>
            <a:r>
              <a:rPr lang="en-US" dirty="0"/>
              <a:t>Add variables as shown below</a:t>
            </a:r>
          </a:p>
          <a:p>
            <a:pPr marL="342900" indent="-342900">
              <a:buFont typeface="Arial" panose="020B0604020202020204" pitchFamily="34" charset="0"/>
              <a:buChar char="•"/>
            </a:pPr>
            <a:r>
              <a:rPr lang="en-US" dirty="0"/>
              <a:t>Drag a link from </a:t>
            </a:r>
            <a:r>
              <a:rPr lang="en-US" dirty="0" err="1"/>
              <a:t>SafeMon</a:t>
            </a:r>
            <a:r>
              <a:rPr lang="en-US" dirty="0"/>
              <a:t> </a:t>
            </a:r>
            <a:r>
              <a:rPr lang="en-US" dirty="0" err="1"/>
              <a:t>MonDelOut</a:t>
            </a:r>
            <a:r>
              <a:rPr lang="en-US" dirty="0"/>
              <a:t> to the AndIn2 input on the </a:t>
            </a:r>
            <a:r>
              <a:rPr lang="en-US" dirty="0" err="1"/>
              <a:t>SafeAnd</a:t>
            </a:r>
            <a:r>
              <a:rPr lang="en-US" dirty="0"/>
              <a:t> block</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E3D129AA-9103-D9D6-BDE3-FBCE22BE7824}"/>
              </a:ext>
            </a:extLst>
          </p:cNvPr>
          <p:cNvPicPr>
            <a:picLocks noChangeAspect="1"/>
          </p:cNvPicPr>
          <p:nvPr/>
        </p:nvPicPr>
        <p:blipFill>
          <a:blip r:embed="rId3"/>
          <a:stretch>
            <a:fillRect/>
          </a:stretch>
        </p:blipFill>
        <p:spPr>
          <a:xfrm>
            <a:off x="152400" y="2783048"/>
            <a:ext cx="11132199" cy="4002043"/>
          </a:xfrm>
          <a:prstGeom prst="rect">
            <a:avLst/>
          </a:prstGeom>
        </p:spPr>
      </p:pic>
      <p:sp>
        <p:nvSpPr>
          <p:cNvPr id="7" name="Rectangle 6">
            <a:extLst>
              <a:ext uri="{FF2B5EF4-FFF2-40B4-BE49-F238E27FC236}">
                <a16:creationId xmlns:a16="http://schemas.microsoft.com/office/drawing/2014/main" id="{4793E40C-3A4C-370F-EE85-23F1E3B6F287}"/>
              </a:ext>
            </a:extLst>
          </p:cNvPr>
          <p:cNvSpPr/>
          <p:nvPr/>
        </p:nvSpPr>
        <p:spPr>
          <a:xfrm>
            <a:off x="6096000" y="4114800"/>
            <a:ext cx="2514600" cy="9144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AA34CDEA-CF4C-8061-862E-AFC5D1C1A28D}"/>
              </a:ext>
            </a:extLst>
          </p:cNvPr>
          <p:cNvSpPr/>
          <p:nvPr/>
        </p:nvSpPr>
        <p:spPr>
          <a:xfrm>
            <a:off x="9601199" y="5867400"/>
            <a:ext cx="1683399" cy="274388"/>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966442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EL6910 .</a:t>
            </a:r>
            <a:r>
              <a:rPr lang="en-US" dirty="0" err="1"/>
              <a:t>sal</a:t>
            </a:r>
            <a:r>
              <a:rPr lang="en-US" dirty="0"/>
              <a:t> result for reference.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3E276680-847F-2127-2D28-DF20ED0E143F}"/>
              </a:ext>
            </a:extLst>
          </p:cNvPr>
          <p:cNvPicPr>
            <a:picLocks noChangeAspect="1"/>
          </p:cNvPicPr>
          <p:nvPr/>
        </p:nvPicPr>
        <p:blipFill>
          <a:blip r:embed="rId3"/>
          <a:stretch>
            <a:fillRect/>
          </a:stretch>
        </p:blipFill>
        <p:spPr>
          <a:xfrm>
            <a:off x="228600" y="2600771"/>
            <a:ext cx="11506200" cy="4257229"/>
          </a:xfrm>
          <a:prstGeom prst="rect">
            <a:avLst/>
          </a:prstGeom>
        </p:spPr>
      </p:pic>
    </p:spTree>
    <p:extLst>
      <p:ext uri="{BB962C8B-B14F-4D97-AF65-F5344CB8AC3E}">
        <p14:creationId xmlns:p14="http://schemas.microsoft.com/office/powerpoint/2010/main" val="1378809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Add a new digital input Alias named </a:t>
            </a:r>
            <a:r>
              <a:rPr lang="en-US" dirty="0" err="1"/>
              <a:t>From_PLC_SLS_CMD</a:t>
            </a: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3AC1E934-C283-A341-507A-B978597BEAB4}"/>
              </a:ext>
            </a:extLst>
          </p:cNvPr>
          <p:cNvPicPr>
            <a:picLocks noChangeAspect="1"/>
          </p:cNvPicPr>
          <p:nvPr/>
        </p:nvPicPr>
        <p:blipFill>
          <a:blip r:embed="rId3"/>
          <a:stretch>
            <a:fillRect/>
          </a:stretch>
        </p:blipFill>
        <p:spPr>
          <a:xfrm>
            <a:off x="1143000" y="2514600"/>
            <a:ext cx="9525000" cy="3978888"/>
          </a:xfrm>
          <a:prstGeom prst="rect">
            <a:avLst/>
          </a:prstGeom>
        </p:spPr>
      </p:pic>
    </p:spTree>
    <p:extLst>
      <p:ext uri="{BB962C8B-B14F-4D97-AF65-F5344CB8AC3E}">
        <p14:creationId xmlns:p14="http://schemas.microsoft.com/office/powerpoint/2010/main" val="2766393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Open the Variable Mapping tab for the EL6910 .</a:t>
            </a:r>
            <a:r>
              <a:rPr lang="en-US" dirty="0" err="1"/>
              <a:t>sal</a:t>
            </a:r>
            <a:endParaRPr lang="en-US" dirty="0"/>
          </a:p>
          <a:p>
            <a:pPr marL="695700" lvl="1" indent="-342900">
              <a:buFont typeface="Arial" panose="020B0604020202020204" pitchFamily="34" charset="0"/>
              <a:buChar char="•"/>
            </a:pPr>
            <a:r>
              <a:rPr lang="en-US" dirty="0"/>
              <a:t>Map the EL1904 inputs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7F9C8A47-ADF6-A394-D292-9D22C937751B}"/>
              </a:ext>
            </a:extLst>
          </p:cNvPr>
          <p:cNvPicPr>
            <a:picLocks noChangeAspect="1"/>
          </p:cNvPicPr>
          <p:nvPr/>
        </p:nvPicPr>
        <p:blipFill>
          <a:blip r:embed="rId3"/>
          <a:stretch>
            <a:fillRect/>
          </a:stretch>
        </p:blipFill>
        <p:spPr>
          <a:xfrm>
            <a:off x="2500312" y="2776537"/>
            <a:ext cx="7191375" cy="1304925"/>
          </a:xfrm>
          <a:prstGeom prst="rect">
            <a:avLst/>
          </a:prstGeom>
        </p:spPr>
      </p:pic>
    </p:spTree>
    <p:extLst>
      <p:ext uri="{BB962C8B-B14F-4D97-AF65-F5344CB8AC3E}">
        <p14:creationId xmlns:p14="http://schemas.microsoft.com/office/powerpoint/2010/main" val="1079814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Map the SS1_CMD_ChAChB</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BEA74549-32D6-8C22-17D2-009B100DA3B6}"/>
              </a:ext>
            </a:extLst>
          </p:cNvPr>
          <p:cNvPicPr>
            <a:picLocks noChangeAspect="1"/>
          </p:cNvPicPr>
          <p:nvPr/>
        </p:nvPicPr>
        <p:blipFill>
          <a:blip r:embed="rId3"/>
          <a:stretch>
            <a:fillRect/>
          </a:stretch>
        </p:blipFill>
        <p:spPr>
          <a:xfrm>
            <a:off x="1371600" y="1702419"/>
            <a:ext cx="7148513" cy="4394270"/>
          </a:xfrm>
          <a:prstGeom prst="rect">
            <a:avLst/>
          </a:prstGeom>
        </p:spPr>
      </p:pic>
      <p:sp>
        <p:nvSpPr>
          <p:cNvPr id="7" name="Rectangle 6">
            <a:extLst>
              <a:ext uri="{FF2B5EF4-FFF2-40B4-BE49-F238E27FC236}">
                <a16:creationId xmlns:a16="http://schemas.microsoft.com/office/drawing/2014/main" id="{A8777E66-C152-A0EF-DA08-C65F720E7DFD}"/>
              </a:ext>
            </a:extLst>
          </p:cNvPr>
          <p:cNvSpPr/>
          <p:nvPr/>
        </p:nvSpPr>
        <p:spPr>
          <a:xfrm>
            <a:off x="6059648" y="5887248"/>
            <a:ext cx="2460465" cy="208595"/>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ACBE58D4-26BA-AB92-A494-C975F95B93B0}"/>
              </a:ext>
            </a:extLst>
          </p:cNvPr>
          <p:cNvSpPr/>
          <p:nvPr/>
        </p:nvSpPr>
        <p:spPr>
          <a:xfrm>
            <a:off x="1600201" y="2133600"/>
            <a:ext cx="2743200" cy="29718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9" name="Straight Arrow Connector 8">
            <a:extLst>
              <a:ext uri="{FF2B5EF4-FFF2-40B4-BE49-F238E27FC236}">
                <a16:creationId xmlns:a16="http://schemas.microsoft.com/office/drawing/2014/main" id="{61C1BFEE-F32E-0FEB-6B2D-E82F09ECA605}"/>
              </a:ext>
            </a:extLst>
          </p:cNvPr>
          <p:cNvCxnSpPr>
            <a:cxnSpLocks/>
            <a:stCxn id="7" idx="1"/>
          </p:cNvCxnSpPr>
          <p:nvPr/>
        </p:nvCxnSpPr>
        <p:spPr>
          <a:xfrm flipH="1" flipV="1">
            <a:off x="4343401" y="5049853"/>
            <a:ext cx="1716247" cy="941693"/>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5C46896-1487-6BAF-03A2-DFCE9D9AA3C9}"/>
              </a:ext>
            </a:extLst>
          </p:cNvPr>
          <p:cNvPicPr>
            <a:picLocks noChangeAspect="1"/>
          </p:cNvPicPr>
          <p:nvPr/>
        </p:nvPicPr>
        <p:blipFill>
          <a:blip r:embed="rId4"/>
          <a:stretch>
            <a:fillRect/>
          </a:stretch>
        </p:blipFill>
        <p:spPr>
          <a:xfrm>
            <a:off x="1143000" y="6219341"/>
            <a:ext cx="8370533" cy="609600"/>
          </a:xfrm>
          <a:prstGeom prst="rect">
            <a:avLst/>
          </a:prstGeom>
          <a:effectLst>
            <a:glow rad="63500">
              <a:schemeClr val="accent4">
                <a:satMod val="175000"/>
                <a:alpha val="40000"/>
              </a:schemeClr>
            </a:glow>
          </a:effectLst>
        </p:spPr>
      </p:pic>
    </p:spTree>
    <p:extLst>
      <p:ext uri="{BB962C8B-B14F-4D97-AF65-F5344CB8AC3E}">
        <p14:creationId xmlns:p14="http://schemas.microsoft.com/office/powerpoint/2010/main" val="4144266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Map the </a:t>
            </a:r>
            <a:r>
              <a:rPr lang="en-US" dirty="0" err="1"/>
              <a:t>STO_CMD_ChAChB</a:t>
            </a: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0E747A36-821F-7E4C-FD63-6B61F0290BE8}"/>
              </a:ext>
            </a:extLst>
          </p:cNvPr>
          <p:cNvPicPr>
            <a:picLocks noChangeAspect="1"/>
          </p:cNvPicPr>
          <p:nvPr/>
        </p:nvPicPr>
        <p:blipFill>
          <a:blip r:embed="rId3"/>
          <a:stretch>
            <a:fillRect/>
          </a:stretch>
        </p:blipFill>
        <p:spPr>
          <a:xfrm>
            <a:off x="1600201" y="1678738"/>
            <a:ext cx="7424491" cy="3932339"/>
          </a:xfrm>
          <a:prstGeom prst="rect">
            <a:avLst/>
          </a:prstGeom>
        </p:spPr>
      </p:pic>
      <p:pic>
        <p:nvPicPr>
          <p:cNvPr id="8" name="Picture 7">
            <a:extLst>
              <a:ext uri="{FF2B5EF4-FFF2-40B4-BE49-F238E27FC236}">
                <a16:creationId xmlns:a16="http://schemas.microsoft.com/office/drawing/2014/main" id="{B1B8A47A-079E-6D30-B220-AAC71AC81709}"/>
              </a:ext>
            </a:extLst>
          </p:cNvPr>
          <p:cNvPicPr>
            <a:picLocks noChangeAspect="1"/>
          </p:cNvPicPr>
          <p:nvPr/>
        </p:nvPicPr>
        <p:blipFill>
          <a:blip r:embed="rId4"/>
          <a:stretch>
            <a:fillRect/>
          </a:stretch>
        </p:blipFill>
        <p:spPr>
          <a:xfrm>
            <a:off x="457200" y="6036590"/>
            <a:ext cx="9525000" cy="741245"/>
          </a:xfrm>
          <a:prstGeom prst="rect">
            <a:avLst/>
          </a:prstGeom>
          <a:effectLst>
            <a:glow rad="63500">
              <a:schemeClr val="accent4">
                <a:satMod val="175000"/>
                <a:alpha val="40000"/>
              </a:schemeClr>
            </a:glow>
          </a:effectLst>
        </p:spPr>
      </p:pic>
      <p:sp>
        <p:nvSpPr>
          <p:cNvPr id="9" name="Rectangle 8">
            <a:extLst>
              <a:ext uri="{FF2B5EF4-FFF2-40B4-BE49-F238E27FC236}">
                <a16:creationId xmlns:a16="http://schemas.microsoft.com/office/drawing/2014/main" id="{788DC902-4653-7B12-01CB-555A8B1C83E5}"/>
              </a:ext>
            </a:extLst>
          </p:cNvPr>
          <p:cNvSpPr/>
          <p:nvPr/>
        </p:nvSpPr>
        <p:spPr>
          <a:xfrm>
            <a:off x="3733800" y="2112554"/>
            <a:ext cx="2743200" cy="230704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0" name="Rectangle 9">
            <a:extLst>
              <a:ext uri="{FF2B5EF4-FFF2-40B4-BE49-F238E27FC236}">
                <a16:creationId xmlns:a16="http://schemas.microsoft.com/office/drawing/2014/main" id="{273F7871-2467-4B4B-C01E-08E99E51D94F}"/>
              </a:ext>
            </a:extLst>
          </p:cNvPr>
          <p:cNvSpPr/>
          <p:nvPr/>
        </p:nvSpPr>
        <p:spPr>
          <a:xfrm>
            <a:off x="5943600" y="5333999"/>
            <a:ext cx="3081092" cy="277077"/>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11" name="Straight Arrow Connector 10">
            <a:extLst>
              <a:ext uri="{FF2B5EF4-FFF2-40B4-BE49-F238E27FC236}">
                <a16:creationId xmlns:a16="http://schemas.microsoft.com/office/drawing/2014/main" id="{FCE0606B-B22C-6B1B-E0CF-3EFD7A391059}"/>
              </a:ext>
            </a:extLst>
          </p:cNvPr>
          <p:cNvCxnSpPr>
            <a:cxnSpLocks/>
          </p:cNvCxnSpPr>
          <p:nvPr/>
        </p:nvCxnSpPr>
        <p:spPr>
          <a:xfrm flipV="1">
            <a:off x="6172200" y="4419600"/>
            <a:ext cx="0" cy="914399"/>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170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Map the </a:t>
            </a:r>
            <a:r>
              <a:rPr lang="en-US" dirty="0" err="1"/>
              <a:t>STO_CMD_ChAChB</a:t>
            </a: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ED411C4D-831A-78E1-9D09-F23685A92310}"/>
              </a:ext>
            </a:extLst>
          </p:cNvPr>
          <p:cNvPicPr>
            <a:picLocks noChangeAspect="1"/>
          </p:cNvPicPr>
          <p:nvPr/>
        </p:nvPicPr>
        <p:blipFill>
          <a:blip r:embed="rId3"/>
          <a:stretch>
            <a:fillRect/>
          </a:stretch>
        </p:blipFill>
        <p:spPr>
          <a:xfrm>
            <a:off x="991448" y="1636898"/>
            <a:ext cx="7542107" cy="3974178"/>
          </a:xfrm>
          <a:prstGeom prst="rect">
            <a:avLst/>
          </a:prstGeom>
        </p:spPr>
      </p:pic>
      <p:sp>
        <p:nvSpPr>
          <p:cNvPr id="9" name="Rectangle 8">
            <a:extLst>
              <a:ext uri="{FF2B5EF4-FFF2-40B4-BE49-F238E27FC236}">
                <a16:creationId xmlns:a16="http://schemas.microsoft.com/office/drawing/2014/main" id="{788DC902-4653-7B12-01CB-555A8B1C83E5}"/>
              </a:ext>
            </a:extLst>
          </p:cNvPr>
          <p:cNvSpPr/>
          <p:nvPr/>
        </p:nvSpPr>
        <p:spPr>
          <a:xfrm>
            <a:off x="3733800" y="2112554"/>
            <a:ext cx="2743200" cy="230704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11" name="Straight Arrow Connector 10">
            <a:extLst>
              <a:ext uri="{FF2B5EF4-FFF2-40B4-BE49-F238E27FC236}">
                <a16:creationId xmlns:a16="http://schemas.microsoft.com/office/drawing/2014/main" id="{FCE0606B-B22C-6B1B-E0CF-3EFD7A391059}"/>
              </a:ext>
            </a:extLst>
          </p:cNvPr>
          <p:cNvCxnSpPr>
            <a:cxnSpLocks/>
          </p:cNvCxnSpPr>
          <p:nvPr/>
        </p:nvCxnSpPr>
        <p:spPr>
          <a:xfrm flipV="1">
            <a:off x="6172200" y="4419600"/>
            <a:ext cx="0" cy="914399"/>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73F7871-2467-4B4B-C01E-08E99E51D94F}"/>
              </a:ext>
            </a:extLst>
          </p:cNvPr>
          <p:cNvSpPr/>
          <p:nvPr/>
        </p:nvSpPr>
        <p:spPr>
          <a:xfrm>
            <a:off x="5334000" y="5333999"/>
            <a:ext cx="3081092" cy="277077"/>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2" name="Picture 11">
            <a:extLst>
              <a:ext uri="{FF2B5EF4-FFF2-40B4-BE49-F238E27FC236}">
                <a16:creationId xmlns:a16="http://schemas.microsoft.com/office/drawing/2014/main" id="{14F16E39-971C-3B6F-A7A6-AB321A158B4B}"/>
              </a:ext>
            </a:extLst>
          </p:cNvPr>
          <p:cNvPicPr>
            <a:picLocks noChangeAspect="1"/>
          </p:cNvPicPr>
          <p:nvPr/>
        </p:nvPicPr>
        <p:blipFill>
          <a:blip r:embed="rId4"/>
          <a:stretch>
            <a:fillRect/>
          </a:stretch>
        </p:blipFill>
        <p:spPr>
          <a:xfrm>
            <a:off x="274942" y="6048679"/>
            <a:ext cx="9829800" cy="717067"/>
          </a:xfrm>
          <a:prstGeom prst="rect">
            <a:avLst/>
          </a:prstGeom>
          <a:effectLst>
            <a:glow rad="63500">
              <a:schemeClr val="accent4">
                <a:satMod val="175000"/>
                <a:alpha val="40000"/>
              </a:schemeClr>
            </a:glow>
          </a:effectLst>
        </p:spPr>
      </p:pic>
    </p:spTree>
    <p:extLst>
      <p:ext uri="{BB962C8B-B14F-4D97-AF65-F5344CB8AC3E}">
        <p14:creationId xmlns:p14="http://schemas.microsoft.com/office/powerpoint/2010/main" val="4272654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Map the </a:t>
            </a:r>
            <a:r>
              <a:rPr lang="en-US" dirty="0" err="1"/>
              <a:t>SLS_CMD_ChAChB</a:t>
            </a: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79161C99-EC1E-08E5-A691-3D8CF354DCDD}"/>
              </a:ext>
            </a:extLst>
          </p:cNvPr>
          <p:cNvPicPr>
            <a:picLocks noChangeAspect="1"/>
          </p:cNvPicPr>
          <p:nvPr/>
        </p:nvPicPr>
        <p:blipFill>
          <a:blip r:embed="rId3"/>
          <a:stretch>
            <a:fillRect/>
          </a:stretch>
        </p:blipFill>
        <p:spPr>
          <a:xfrm>
            <a:off x="992099" y="1603895"/>
            <a:ext cx="8153400" cy="4163306"/>
          </a:xfrm>
          <a:prstGeom prst="rect">
            <a:avLst/>
          </a:prstGeom>
        </p:spPr>
      </p:pic>
      <p:sp>
        <p:nvSpPr>
          <p:cNvPr id="7" name="Rectangle 6">
            <a:extLst>
              <a:ext uri="{FF2B5EF4-FFF2-40B4-BE49-F238E27FC236}">
                <a16:creationId xmlns:a16="http://schemas.microsoft.com/office/drawing/2014/main" id="{09808FD8-2AC3-A98A-9B2C-7E055F308141}"/>
              </a:ext>
            </a:extLst>
          </p:cNvPr>
          <p:cNvSpPr/>
          <p:nvPr/>
        </p:nvSpPr>
        <p:spPr>
          <a:xfrm>
            <a:off x="3733800" y="2112554"/>
            <a:ext cx="2743200" cy="139264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9" name="Picture 8">
            <a:extLst>
              <a:ext uri="{FF2B5EF4-FFF2-40B4-BE49-F238E27FC236}">
                <a16:creationId xmlns:a16="http://schemas.microsoft.com/office/drawing/2014/main" id="{742BA14C-AD20-D355-A6E4-C5B0D84DC69B}"/>
              </a:ext>
            </a:extLst>
          </p:cNvPr>
          <p:cNvPicPr>
            <a:picLocks noChangeAspect="1"/>
          </p:cNvPicPr>
          <p:nvPr/>
        </p:nvPicPr>
        <p:blipFill>
          <a:blip r:embed="rId4"/>
          <a:stretch>
            <a:fillRect/>
          </a:stretch>
        </p:blipFill>
        <p:spPr>
          <a:xfrm>
            <a:off x="77699" y="6019800"/>
            <a:ext cx="9982200" cy="671585"/>
          </a:xfrm>
          <a:prstGeom prst="rect">
            <a:avLst/>
          </a:prstGeom>
          <a:effectLst>
            <a:glow rad="63500">
              <a:schemeClr val="accent4">
                <a:satMod val="175000"/>
                <a:alpha val="40000"/>
              </a:schemeClr>
            </a:glow>
          </a:effectLst>
        </p:spPr>
      </p:pic>
      <p:sp>
        <p:nvSpPr>
          <p:cNvPr id="10" name="Rectangle 9">
            <a:extLst>
              <a:ext uri="{FF2B5EF4-FFF2-40B4-BE49-F238E27FC236}">
                <a16:creationId xmlns:a16="http://schemas.microsoft.com/office/drawing/2014/main" id="{C9FA2D8D-F7C2-DEAA-D7B4-1011E2407319}"/>
              </a:ext>
            </a:extLst>
          </p:cNvPr>
          <p:cNvSpPr/>
          <p:nvPr/>
        </p:nvSpPr>
        <p:spPr>
          <a:xfrm>
            <a:off x="5562599" y="5465354"/>
            <a:ext cx="3582899" cy="301847"/>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11" name="Straight Arrow Connector 10">
            <a:extLst>
              <a:ext uri="{FF2B5EF4-FFF2-40B4-BE49-F238E27FC236}">
                <a16:creationId xmlns:a16="http://schemas.microsoft.com/office/drawing/2014/main" id="{0458B31B-7DD4-70FC-4DE6-A3EE78BC48D4}"/>
              </a:ext>
            </a:extLst>
          </p:cNvPr>
          <p:cNvCxnSpPr>
            <a:cxnSpLocks/>
          </p:cNvCxnSpPr>
          <p:nvPr/>
        </p:nvCxnSpPr>
        <p:spPr>
          <a:xfrm flipV="1">
            <a:off x="6172200" y="3505200"/>
            <a:ext cx="0" cy="1960154"/>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826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Map the SLS_CMD_PLC to our PLC_SLS_CMD digital input alias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F8E73764-5612-70CC-4968-7D45492FB9BD}"/>
              </a:ext>
            </a:extLst>
          </p:cNvPr>
          <p:cNvPicPr>
            <a:picLocks noChangeAspect="1"/>
          </p:cNvPicPr>
          <p:nvPr/>
        </p:nvPicPr>
        <p:blipFill>
          <a:blip r:embed="rId3"/>
          <a:stretch>
            <a:fillRect/>
          </a:stretch>
        </p:blipFill>
        <p:spPr>
          <a:xfrm>
            <a:off x="2286000" y="1962688"/>
            <a:ext cx="5233987" cy="4761425"/>
          </a:xfrm>
          <a:prstGeom prst="rect">
            <a:avLst/>
          </a:prstGeom>
        </p:spPr>
      </p:pic>
      <p:pic>
        <p:nvPicPr>
          <p:cNvPr id="6" name="Picture 5">
            <a:extLst>
              <a:ext uri="{FF2B5EF4-FFF2-40B4-BE49-F238E27FC236}">
                <a16:creationId xmlns:a16="http://schemas.microsoft.com/office/drawing/2014/main" id="{4D043E90-0033-B93F-2380-AF01959F9C27}"/>
              </a:ext>
            </a:extLst>
          </p:cNvPr>
          <p:cNvPicPr>
            <a:picLocks noChangeAspect="1"/>
          </p:cNvPicPr>
          <p:nvPr/>
        </p:nvPicPr>
        <p:blipFill>
          <a:blip r:embed="rId4"/>
          <a:stretch>
            <a:fillRect/>
          </a:stretch>
        </p:blipFill>
        <p:spPr>
          <a:xfrm>
            <a:off x="2296357" y="4326039"/>
            <a:ext cx="6000750" cy="2524125"/>
          </a:xfrm>
          <a:prstGeom prst="rect">
            <a:avLst/>
          </a:prstGeom>
        </p:spPr>
      </p:pic>
      <p:sp>
        <p:nvSpPr>
          <p:cNvPr id="7" name="Rectangle 6">
            <a:extLst>
              <a:ext uri="{FF2B5EF4-FFF2-40B4-BE49-F238E27FC236}">
                <a16:creationId xmlns:a16="http://schemas.microsoft.com/office/drawing/2014/main" id="{F8865A82-BC2B-87A9-2EC9-B278243D6BE4}"/>
              </a:ext>
            </a:extLst>
          </p:cNvPr>
          <p:cNvSpPr/>
          <p:nvPr/>
        </p:nvSpPr>
        <p:spPr>
          <a:xfrm>
            <a:off x="2286000" y="5914008"/>
            <a:ext cx="5715000" cy="277077"/>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457835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Final look at the variable mappings for EL6910 project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69DD0FC4-3105-66DB-17D9-3E7E691BFEF9}"/>
              </a:ext>
            </a:extLst>
          </p:cNvPr>
          <p:cNvPicPr>
            <a:picLocks noChangeAspect="1"/>
          </p:cNvPicPr>
          <p:nvPr/>
        </p:nvPicPr>
        <p:blipFill>
          <a:blip r:embed="rId3"/>
          <a:stretch>
            <a:fillRect/>
          </a:stretch>
        </p:blipFill>
        <p:spPr>
          <a:xfrm>
            <a:off x="914400" y="1704315"/>
            <a:ext cx="10363200" cy="5124324"/>
          </a:xfrm>
          <a:prstGeom prst="rect">
            <a:avLst/>
          </a:prstGeom>
        </p:spPr>
      </p:pic>
    </p:spTree>
    <p:extLst>
      <p:ext uri="{BB962C8B-B14F-4D97-AF65-F5344CB8AC3E}">
        <p14:creationId xmlns:p14="http://schemas.microsoft.com/office/powerpoint/2010/main" val="248674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Link the </a:t>
            </a:r>
            <a:r>
              <a:rPr lang="en-US" dirty="0" err="1"/>
              <a:t>From_PLC_SLS_CMD.sds</a:t>
            </a:r>
            <a:r>
              <a:rPr lang="en-US" dirty="0"/>
              <a:t> digital input to our PLC variable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304BE5DF-62D1-02B4-195A-33DA080B076C}"/>
              </a:ext>
            </a:extLst>
          </p:cNvPr>
          <p:cNvPicPr>
            <a:picLocks noChangeAspect="1"/>
          </p:cNvPicPr>
          <p:nvPr/>
        </p:nvPicPr>
        <p:blipFill>
          <a:blip r:embed="rId3"/>
          <a:stretch>
            <a:fillRect/>
          </a:stretch>
        </p:blipFill>
        <p:spPr>
          <a:xfrm>
            <a:off x="876300" y="2895600"/>
            <a:ext cx="10439400" cy="3701966"/>
          </a:xfrm>
          <a:prstGeom prst="rect">
            <a:avLst/>
          </a:prstGeom>
        </p:spPr>
      </p:pic>
      <p:cxnSp>
        <p:nvCxnSpPr>
          <p:cNvPr id="7" name="Straight Arrow Connector 6">
            <a:extLst>
              <a:ext uri="{FF2B5EF4-FFF2-40B4-BE49-F238E27FC236}">
                <a16:creationId xmlns:a16="http://schemas.microsoft.com/office/drawing/2014/main" id="{FE71DA18-8A25-AA3F-F235-900E85DEB3CC}"/>
              </a:ext>
            </a:extLst>
          </p:cNvPr>
          <p:cNvCxnSpPr>
            <a:cxnSpLocks/>
          </p:cNvCxnSpPr>
          <p:nvPr/>
        </p:nvCxnSpPr>
        <p:spPr>
          <a:xfrm flipV="1">
            <a:off x="4800600" y="4724400"/>
            <a:ext cx="762000" cy="740954"/>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3AA9056-B2B3-A422-E2A1-F2692C23153A}"/>
              </a:ext>
            </a:extLst>
          </p:cNvPr>
          <p:cNvCxnSpPr>
            <a:cxnSpLocks/>
          </p:cNvCxnSpPr>
          <p:nvPr/>
        </p:nvCxnSpPr>
        <p:spPr>
          <a:xfrm>
            <a:off x="9448800" y="4724400"/>
            <a:ext cx="0" cy="1371600"/>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6548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Navigate to ChA_ChB_Connection_Input in the AX8000 project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6" name="Picture 5">
            <a:extLst>
              <a:ext uri="{FF2B5EF4-FFF2-40B4-BE49-F238E27FC236}">
                <a16:creationId xmlns:a16="http://schemas.microsoft.com/office/drawing/2014/main" id="{8381B0F0-94DF-5946-5BB6-462680F889C1}"/>
              </a:ext>
            </a:extLst>
          </p:cNvPr>
          <p:cNvPicPr>
            <a:picLocks noChangeAspect="1"/>
          </p:cNvPicPr>
          <p:nvPr/>
        </p:nvPicPr>
        <p:blipFill>
          <a:blip r:embed="rId3"/>
          <a:stretch>
            <a:fillRect/>
          </a:stretch>
        </p:blipFill>
        <p:spPr>
          <a:xfrm>
            <a:off x="5770998" y="4156900"/>
            <a:ext cx="6421002" cy="2726267"/>
          </a:xfrm>
          <a:prstGeom prst="rect">
            <a:avLst/>
          </a:prstGeom>
        </p:spPr>
      </p:pic>
      <p:pic>
        <p:nvPicPr>
          <p:cNvPr id="9" name="Picture 8">
            <a:extLst>
              <a:ext uri="{FF2B5EF4-FFF2-40B4-BE49-F238E27FC236}">
                <a16:creationId xmlns:a16="http://schemas.microsoft.com/office/drawing/2014/main" id="{4796EB28-F532-5060-25CB-E7035D2E237D}"/>
              </a:ext>
            </a:extLst>
          </p:cNvPr>
          <p:cNvPicPr>
            <a:picLocks noChangeAspect="1"/>
          </p:cNvPicPr>
          <p:nvPr/>
        </p:nvPicPr>
        <p:blipFill>
          <a:blip r:embed="rId4"/>
          <a:stretch>
            <a:fillRect/>
          </a:stretch>
        </p:blipFill>
        <p:spPr>
          <a:xfrm>
            <a:off x="32859" y="1643236"/>
            <a:ext cx="8229600" cy="2726267"/>
          </a:xfrm>
          <a:prstGeom prst="rect">
            <a:avLst/>
          </a:prstGeom>
        </p:spPr>
      </p:pic>
      <p:cxnSp>
        <p:nvCxnSpPr>
          <p:cNvPr id="7" name="Straight Arrow Connector 6">
            <a:extLst>
              <a:ext uri="{FF2B5EF4-FFF2-40B4-BE49-F238E27FC236}">
                <a16:creationId xmlns:a16="http://schemas.microsoft.com/office/drawing/2014/main" id="{FE71DA18-8A25-AA3F-F235-900E85DEB3CC}"/>
              </a:ext>
            </a:extLst>
          </p:cNvPr>
          <p:cNvCxnSpPr>
            <a:cxnSpLocks/>
          </p:cNvCxnSpPr>
          <p:nvPr/>
        </p:nvCxnSpPr>
        <p:spPr>
          <a:xfrm flipV="1">
            <a:off x="2372338" y="2845711"/>
            <a:ext cx="609600" cy="980077"/>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3AA9056-B2B3-A422-E2A1-F2692C23153A}"/>
              </a:ext>
            </a:extLst>
          </p:cNvPr>
          <p:cNvCxnSpPr>
            <a:cxnSpLocks/>
          </p:cNvCxnSpPr>
          <p:nvPr/>
        </p:nvCxnSpPr>
        <p:spPr>
          <a:xfrm>
            <a:off x="5770998" y="2649949"/>
            <a:ext cx="0" cy="1371600"/>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E8DD9B0-1202-0FAA-7E51-177E80A6E472}"/>
              </a:ext>
            </a:extLst>
          </p:cNvPr>
          <p:cNvCxnSpPr>
            <a:cxnSpLocks/>
          </p:cNvCxnSpPr>
          <p:nvPr/>
        </p:nvCxnSpPr>
        <p:spPr>
          <a:xfrm flipV="1">
            <a:off x="8153400" y="5190653"/>
            <a:ext cx="609600" cy="981547"/>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26581C5-C1E3-F9E5-7F41-6D1DDB319874}"/>
              </a:ext>
            </a:extLst>
          </p:cNvPr>
          <p:cNvCxnSpPr>
            <a:cxnSpLocks/>
          </p:cNvCxnSpPr>
          <p:nvPr/>
        </p:nvCxnSpPr>
        <p:spPr>
          <a:xfrm>
            <a:off x="11494316" y="5086069"/>
            <a:ext cx="0" cy="1371600"/>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1FE0850-1B6E-6FA9-58FC-8E37BC037925}"/>
              </a:ext>
            </a:extLst>
          </p:cNvPr>
          <p:cNvSpPr txBox="1">
            <a:spLocks/>
          </p:cNvSpPr>
          <p:nvPr/>
        </p:nvSpPr>
        <p:spPr bwMode="gray">
          <a:xfrm>
            <a:off x="1143000" y="4808132"/>
            <a:ext cx="3848098" cy="14238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Link the Run bit to PLC</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
        <p:nvSpPr>
          <p:cNvPr id="18" name="Text Placeholder 3">
            <a:extLst>
              <a:ext uri="{FF2B5EF4-FFF2-40B4-BE49-F238E27FC236}">
                <a16:creationId xmlns:a16="http://schemas.microsoft.com/office/drawing/2014/main" id="{5262C8AC-D431-C7D4-9AB3-32824B6B2A91}"/>
              </a:ext>
            </a:extLst>
          </p:cNvPr>
          <p:cNvSpPr txBox="1">
            <a:spLocks/>
          </p:cNvSpPr>
          <p:nvPr/>
        </p:nvSpPr>
        <p:spPr bwMode="gray">
          <a:xfrm>
            <a:off x="1143000" y="5334000"/>
            <a:ext cx="4305300" cy="14238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Link the </a:t>
            </a:r>
            <a:r>
              <a:rPr lang="en-US" dirty="0" err="1"/>
              <a:t>ErrAck</a:t>
            </a:r>
            <a:r>
              <a:rPr lang="en-US" dirty="0"/>
              <a:t> bit to PLC</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Tree>
    <p:extLst>
      <p:ext uri="{BB962C8B-B14F-4D97-AF65-F5344CB8AC3E}">
        <p14:creationId xmlns:p14="http://schemas.microsoft.com/office/powerpoint/2010/main" val="94728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10896597" cy="1423801"/>
          </a:xfrm>
        </p:spPr>
        <p:txBody>
          <a:bodyPr/>
          <a:lstStyle/>
          <a:p>
            <a:pPr marL="342900" indent="-342900">
              <a:buFont typeface="Arial" panose="020B0604020202020204" pitchFamily="34" charset="0"/>
              <a:buChar char="•"/>
            </a:pPr>
            <a:r>
              <a:rPr lang="en-US" dirty="0"/>
              <a:t>Now would be a good time to Save-All before continuing.</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spTree>
    <p:extLst>
      <p:ext uri="{BB962C8B-B14F-4D97-AF65-F5344CB8AC3E}">
        <p14:creationId xmlns:p14="http://schemas.microsoft.com/office/powerpoint/2010/main" val="3773224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3" y="1090799"/>
            <a:ext cx="7238998" cy="2719201"/>
          </a:xfrm>
        </p:spPr>
        <p:txBody>
          <a:bodyPr/>
          <a:lstStyle/>
          <a:p>
            <a:pPr marL="342900" indent="-342900">
              <a:buFont typeface="Arial" panose="020B0604020202020204" pitchFamily="34" charset="0"/>
              <a:buChar char="•"/>
            </a:pPr>
            <a:r>
              <a:rPr lang="en-US" dirty="0"/>
              <a:t>Navigate to ChA_SLS_1.sal</a:t>
            </a:r>
          </a:p>
          <a:p>
            <a:pPr marL="342900" indent="-342900">
              <a:buFont typeface="Arial" panose="020B0604020202020204" pitchFamily="34" charset="0"/>
              <a:buChar char="•"/>
            </a:pPr>
            <a:r>
              <a:rPr lang="en-US" dirty="0"/>
              <a:t>Input Min/Max values for the </a:t>
            </a:r>
            <a:r>
              <a:rPr lang="en-US" dirty="0" err="1"/>
              <a:t>safeLimit</a:t>
            </a:r>
            <a:endParaRPr lang="en-US" dirty="0"/>
          </a:p>
          <a:p>
            <a:pPr marL="342900" indent="-342900">
              <a:buFont typeface="Arial" panose="020B0604020202020204" pitchFamily="34" charset="0"/>
              <a:buChar char="•"/>
            </a:pPr>
            <a:r>
              <a:rPr lang="en-US" dirty="0"/>
              <a:t>Save-All</a:t>
            </a:r>
            <a:br>
              <a:rPr lang="en-US" dirty="0"/>
            </a:br>
            <a:endParaRPr lang="en-US" dirty="0"/>
          </a:p>
          <a:p>
            <a:pPr marL="342900" indent="-342900">
              <a:buFont typeface="Arial" panose="020B0604020202020204" pitchFamily="34" charset="0"/>
              <a:buChar char="•"/>
            </a:pPr>
            <a:r>
              <a:rPr lang="en-US" dirty="0"/>
              <a:t>Next two slides will help you </a:t>
            </a:r>
            <a:br>
              <a:rPr lang="en-US" dirty="0"/>
            </a:br>
            <a:r>
              <a:rPr lang="en-US" dirty="0"/>
              <a:t>determine the values needed.</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pic>
        <p:nvPicPr>
          <p:cNvPr id="26" name="Picture 25">
            <a:extLst>
              <a:ext uri="{FF2B5EF4-FFF2-40B4-BE49-F238E27FC236}">
                <a16:creationId xmlns:a16="http://schemas.microsoft.com/office/drawing/2014/main" id="{D2BD735D-1FD3-3F7B-F230-A2C5B4072C16}"/>
              </a:ext>
            </a:extLst>
          </p:cNvPr>
          <p:cNvPicPr>
            <a:picLocks noChangeAspect="1"/>
          </p:cNvPicPr>
          <p:nvPr/>
        </p:nvPicPr>
        <p:blipFill>
          <a:blip r:embed="rId3"/>
          <a:stretch>
            <a:fillRect/>
          </a:stretch>
        </p:blipFill>
        <p:spPr>
          <a:xfrm>
            <a:off x="4724400" y="2323620"/>
            <a:ext cx="7467598" cy="4541307"/>
          </a:xfrm>
          <a:prstGeom prst="rect">
            <a:avLst/>
          </a:prstGeom>
        </p:spPr>
      </p:pic>
      <p:sp>
        <p:nvSpPr>
          <p:cNvPr id="27" name="Rectangle 26">
            <a:extLst>
              <a:ext uri="{FF2B5EF4-FFF2-40B4-BE49-F238E27FC236}">
                <a16:creationId xmlns:a16="http://schemas.microsoft.com/office/drawing/2014/main" id="{087DBB0C-25E1-5303-0509-1EAB5B97EEAD}"/>
              </a:ext>
            </a:extLst>
          </p:cNvPr>
          <p:cNvSpPr/>
          <p:nvPr/>
        </p:nvSpPr>
        <p:spPr>
          <a:xfrm>
            <a:off x="10477499" y="4462345"/>
            <a:ext cx="838200" cy="871655"/>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28" name="Text Placeholder 3">
            <a:extLst>
              <a:ext uri="{FF2B5EF4-FFF2-40B4-BE49-F238E27FC236}">
                <a16:creationId xmlns:a16="http://schemas.microsoft.com/office/drawing/2014/main" id="{81B0798A-06EB-00C0-8203-61E733FA94C9}"/>
              </a:ext>
            </a:extLst>
          </p:cNvPr>
          <p:cNvSpPr txBox="1">
            <a:spLocks/>
          </p:cNvSpPr>
          <p:nvPr/>
        </p:nvSpPr>
        <p:spPr bwMode="gray">
          <a:xfrm>
            <a:off x="32161" y="3581400"/>
            <a:ext cx="4616039" cy="2719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sz="1800" dirty="0"/>
              <a:t>Note: Pay attention to the min/max value placement. As the min is on top and the max is on bottom. </a:t>
            </a:r>
          </a:p>
          <a:p>
            <a:pPr marL="342900" indent="-342900">
              <a:buFont typeface="Arial" panose="020B0604020202020204" pitchFamily="34" charset="0"/>
              <a:buChar char="•"/>
            </a:pPr>
            <a:r>
              <a:rPr lang="en-US" sz="1800" dirty="0"/>
              <a:t>Some FBs this is reversed with max on top and min on bottom.</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Tree>
    <p:extLst>
      <p:ext uri="{BB962C8B-B14F-4D97-AF65-F5344CB8AC3E}">
        <p14:creationId xmlns:p14="http://schemas.microsoft.com/office/powerpoint/2010/main" val="770149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7D730-21F2-013D-8A91-04CA96ED6135}"/>
              </a:ext>
            </a:extLst>
          </p:cNvPr>
          <p:cNvPicPr>
            <a:picLocks noChangeAspect="1"/>
          </p:cNvPicPr>
          <p:nvPr/>
        </p:nvPicPr>
        <p:blipFill>
          <a:blip r:embed="rId2"/>
          <a:stretch>
            <a:fillRect/>
          </a:stretch>
        </p:blipFill>
        <p:spPr>
          <a:xfrm>
            <a:off x="457200" y="1600200"/>
            <a:ext cx="3200400" cy="4937476"/>
          </a:xfrm>
          <a:prstGeom prst="rect">
            <a:avLst/>
          </a:prstGeom>
        </p:spPr>
      </p:pic>
      <p:pic>
        <p:nvPicPr>
          <p:cNvPr id="9" name="Picture 8">
            <a:extLst>
              <a:ext uri="{FF2B5EF4-FFF2-40B4-BE49-F238E27FC236}">
                <a16:creationId xmlns:a16="http://schemas.microsoft.com/office/drawing/2014/main" id="{6B0D4A12-485A-C1D8-AF24-EFD6EA95B4FB}"/>
              </a:ext>
            </a:extLst>
          </p:cNvPr>
          <p:cNvPicPr>
            <a:picLocks noChangeAspect="1"/>
          </p:cNvPicPr>
          <p:nvPr/>
        </p:nvPicPr>
        <p:blipFill>
          <a:blip r:embed="rId3"/>
          <a:stretch>
            <a:fillRect/>
          </a:stretch>
        </p:blipFill>
        <p:spPr>
          <a:xfrm>
            <a:off x="2762427" y="1567970"/>
            <a:ext cx="8743773" cy="1870852"/>
          </a:xfrm>
          <a:prstGeom prst="rect">
            <a:avLst/>
          </a:prstGeom>
        </p:spPr>
      </p:pic>
      <p:cxnSp>
        <p:nvCxnSpPr>
          <p:cNvPr id="37" name="Connector: Elbow 36">
            <a:extLst>
              <a:ext uri="{FF2B5EF4-FFF2-40B4-BE49-F238E27FC236}">
                <a16:creationId xmlns:a16="http://schemas.microsoft.com/office/drawing/2014/main" id="{5F86A657-1F46-45A5-7FC7-EA2DE89CA289}"/>
              </a:ext>
            </a:extLst>
          </p:cNvPr>
          <p:cNvCxnSpPr>
            <a:stCxn id="31" idx="2"/>
            <a:endCxn id="32" idx="1"/>
          </p:cNvCxnSpPr>
          <p:nvPr/>
        </p:nvCxnSpPr>
        <p:spPr>
          <a:xfrm rot="5400000">
            <a:off x="3362609" y="2847295"/>
            <a:ext cx="666112" cy="1447729"/>
          </a:xfrm>
          <a:prstGeom prst="bentConnector4">
            <a:avLst>
              <a:gd name="adj1" fmla="val 8653"/>
              <a:gd name="adj2" fmla="val 115790"/>
            </a:avLst>
          </a:prstGeom>
          <a:ln w="9525">
            <a:solidFill>
              <a:srgbClr val="ED53D7"/>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550BC526-FBFA-AD94-72A5-440914CA50EB}"/>
              </a:ext>
            </a:extLst>
          </p:cNvPr>
          <p:cNvCxnSpPr>
            <a:stCxn id="30" idx="2"/>
            <a:endCxn id="20" idx="1"/>
          </p:cNvCxnSpPr>
          <p:nvPr/>
        </p:nvCxnSpPr>
        <p:spPr>
          <a:xfrm rot="5400000">
            <a:off x="4825157" y="2360338"/>
            <a:ext cx="1813154" cy="3719556"/>
          </a:xfrm>
          <a:prstGeom prst="bentConnector4">
            <a:avLst>
              <a:gd name="adj1" fmla="val 32520"/>
              <a:gd name="adj2" fmla="val 106146"/>
            </a:avLst>
          </a:prstGeom>
          <a:ln w="9525">
            <a:solidFill>
              <a:srgbClr val="92D05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EB2ACF6-CCF1-A762-E801-7E2C4D24D56A}"/>
              </a:ext>
            </a:extLst>
          </p:cNvPr>
          <p:cNvCxnSpPr>
            <a:stCxn id="29" idx="2"/>
            <a:endCxn id="28" idx="1"/>
          </p:cNvCxnSpPr>
          <p:nvPr/>
        </p:nvCxnSpPr>
        <p:spPr>
          <a:xfrm rot="5400000">
            <a:off x="6630600" y="2660553"/>
            <a:ext cx="3312300" cy="4076700"/>
          </a:xfrm>
          <a:prstGeom prst="bentConnector4">
            <a:avLst>
              <a:gd name="adj1" fmla="val 41811"/>
              <a:gd name="adj2" fmla="val 105607"/>
            </a:avLst>
          </a:prstGeom>
          <a:ln>
            <a:tailEnd type="triangle"/>
          </a:ln>
        </p:spPr>
        <p:style>
          <a:lnRef idx="1">
            <a:schemeClr val="accent4"/>
          </a:lnRef>
          <a:fillRef idx="0">
            <a:schemeClr val="accent4"/>
          </a:fillRef>
          <a:effectRef idx="0">
            <a:schemeClr val="accent4"/>
          </a:effectRef>
          <a:fontRef idx="minor">
            <a:schemeClr val="tx1"/>
          </a:fontRef>
        </p:style>
      </p:cxnSp>
      <p:sp>
        <p:nvSpPr>
          <p:cNvPr id="4" name="Text Placeholder 3">
            <a:extLst>
              <a:ext uri="{FF2B5EF4-FFF2-40B4-BE49-F238E27FC236}">
                <a16:creationId xmlns:a16="http://schemas.microsoft.com/office/drawing/2014/main" id="{E6F5C60D-A576-4292-09AF-887E19BD59E7}"/>
              </a:ext>
            </a:extLst>
          </p:cNvPr>
          <p:cNvSpPr>
            <a:spLocks noGrp="1"/>
          </p:cNvSpPr>
          <p:nvPr>
            <p:ph type="body" sz="quarter" idx="15"/>
          </p:nvPr>
        </p:nvSpPr>
        <p:spPr>
          <a:xfrm>
            <a:off x="2" y="1090799"/>
            <a:ext cx="12191997" cy="5331600"/>
          </a:xfrm>
        </p:spPr>
        <p:txBody>
          <a:bodyPr/>
          <a:lstStyle/>
          <a:p>
            <a:pPr marL="0" indent="0">
              <a:buNone/>
            </a:pPr>
            <a:r>
              <a:rPr lang="en-US" sz="1800" b="1" dirty="0"/>
              <a:t>Detailed view of SLS handling </a:t>
            </a:r>
            <a:r>
              <a:rPr lang="en-US" sz="1800" b="1" dirty="0" err="1"/>
              <a:t>ChA</a:t>
            </a:r>
            <a:r>
              <a:rPr lang="en-US" sz="1800" b="1" dirty="0"/>
              <a:t> </a:t>
            </a:r>
          </a:p>
        </p:txBody>
      </p:sp>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6" name="Rectangle 5">
            <a:extLst>
              <a:ext uri="{FF2B5EF4-FFF2-40B4-BE49-F238E27FC236}">
                <a16:creationId xmlns:a16="http://schemas.microsoft.com/office/drawing/2014/main" id="{0C6B7A2F-25B5-076C-FA5D-4704F53B97F5}"/>
              </a:ext>
            </a:extLst>
          </p:cNvPr>
          <p:cNvSpPr/>
          <p:nvPr/>
        </p:nvSpPr>
        <p:spPr>
          <a:xfrm>
            <a:off x="984059" y="4343400"/>
            <a:ext cx="844741" cy="155668"/>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3" name="Rectangle 32">
            <a:extLst>
              <a:ext uri="{FF2B5EF4-FFF2-40B4-BE49-F238E27FC236}">
                <a16:creationId xmlns:a16="http://schemas.microsoft.com/office/drawing/2014/main" id="{02E8ED62-9F6B-32E9-6844-6E38064B1CC2}"/>
              </a:ext>
            </a:extLst>
          </p:cNvPr>
          <p:cNvSpPr/>
          <p:nvPr/>
        </p:nvSpPr>
        <p:spPr>
          <a:xfrm>
            <a:off x="4953000" y="1658732"/>
            <a:ext cx="1752600" cy="1313068"/>
          </a:xfrm>
          <a:prstGeom prst="rect">
            <a:avLst/>
          </a:prstGeom>
          <a:no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2" name="Rectangle 31">
            <a:extLst>
              <a:ext uri="{FF2B5EF4-FFF2-40B4-BE49-F238E27FC236}">
                <a16:creationId xmlns:a16="http://schemas.microsoft.com/office/drawing/2014/main" id="{3BFA382B-4BF8-1E19-835B-3762959E0919}"/>
              </a:ext>
            </a:extLst>
          </p:cNvPr>
          <p:cNvSpPr/>
          <p:nvPr/>
        </p:nvSpPr>
        <p:spPr>
          <a:xfrm>
            <a:off x="2971800" y="3353380"/>
            <a:ext cx="6457773" cy="1101669"/>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endParaRPr lang="en-US" sz="1200" kern="1200" baseline="0" dirty="0">
              <a:solidFill>
                <a:schemeClr val="tx1"/>
              </a:solidFill>
              <a:latin typeface="+mj-lt"/>
              <a:ea typeface="+mn-ea"/>
              <a:cs typeface="Arial" pitchFamily="34" charset="0"/>
            </a:endParaRPr>
          </a:p>
        </p:txBody>
      </p:sp>
      <p:pic>
        <p:nvPicPr>
          <p:cNvPr id="13" name="object 9">
            <a:extLst>
              <a:ext uri="{FF2B5EF4-FFF2-40B4-BE49-F238E27FC236}">
                <a16:creationId xmlns:a16="http://schemas.microsoft.com/office/drawing/2014/main" id="{E11F4D46-89C7-5669-53D0-CB7F6E27CEEA}"/>
              </a:ext>
            </a:extLst>
          </p:cNvPr>
          <p:cNvPicPr/>
          <p:nvPr/>
        </p:nvPicPr>
        <p:blipFill>
          <a:blip r:embed="rId4" cstate="print"/>
          <a:stretch>
            <a:fillRect/>
          </a:stretch>
        </p:blipFill>
        <p:spPr>
          <a:xfrm>
            <a:off x="7686491" y="3353379"/>
            <a:ext cx="1739846" cy="1101669"/>
          </a:xfrm>
          <a:prstGeom prst="rect">
            <a:avLst/>
          </a:prstGeom>
        </p:spPr>
      </p:pic>
      <p:sp>
        <p:nvSpPr>
          <p:cNvPr id="14" name="TextBox 13">
            <a:extLst>
              <a:ext uri="{FF2B5EF4-FFF2-40B4-BE49-F238E27FC236}">
                <a16:creationId xmlns:a16="http://schemas.microsoft.com/office/drawing/2014/main" id="{97770915-6348-713D-63DD-F8EAEC5154E7}"/>
              </a:ext>
            </a:extLst>
          </p:cNvPr>
          <p:cNvSpPr txBox="1"/>
          <p:nvPr/>
        </p:nvSpPr>
        <p:spPr>
          <a:xfrm>
            <a:off x="3048000" y="3353380"/>
            <a:ext cx="4648200" cy="1077218"/>
          </a:xfrm>
          <a:prstGeom prst="rect">
            <a:avLst/>
          </a:prstGeom>
          <a:noFill/>
        </p:spPr>
        <p:txBody>
          <a:bodyPr wrap="square" rtlCol="0">
            <a:spAutoFit/>
          </a:bodyPr>
          <a:lstStyle/>
          <a:p>
            <a:r>
              <a:rPr lang="en-US" sz="900" b="1" dirty="0"/>
              <a:t>Function Block: SLS_1_Limit:</a:t>
            </a:r>
          </a:p>
          <a:p>
            <a:r>
              <a:rPr lang="en-US" sz="900" dirty="0"/>
              <a:t>This function block is used to declare and monitor the speed limits for SLS-</a:t>
            </a:r>
            <a:r>
              <a:rPr lang="en-US" sz="900" dirty="0" err="1"/>
              <a:t>SafeMotion</a:t>
            </a:r>
            <a:r>
              <a:rPr lang="en-US" sz="900" dirty="0"/>
              <a:t>-Function if the Speed(</a:t>
            </a:r>
            <a:r>
              <a:rPr lang="en-US" sz="900" dirty="0" err="1"/>
              <a:t>ChA.PRIFB_VELOCITYMAX</a:t>
            </a:r>
            <a:r>
              <a:rPr lang="en-US" sz="900" dirty="0"/>
              <a:t> is in the limit range the output </a:t>
            </a:r>
            <a:r>
              <a:rPr lang="en-US" sz="900" dirty="0" err="1"/>
              <a:t>InLimit</a:t>
            </a:r>
            <a:r>
              <a:rPr lang="en-US" sz="900" dirty="0"/>
              <a:t> is TRUE</a:t>
            </a:r>
          </a:p>
          <a:p>
            <a:r>
              <a:rPr lang="en-US" sz="900" dirty="0"/>
              <a:t>If it is outside the limit range the </a:t>
            </a:r>
            <a:r>
              <a:rPr lang="en-US" sz="900" dirty="0" err="1"/>
              <a:t>InLimit</a:t>
            </a:r>
            <a:r>
              <a:rPr lang="en-US" sz="900" dirty="0"/>
              <a:t> is FALSE</a:t>
            </a:r>
          </a:p>
          <a:p>
            <a:endParaRPr lang="en-US" sz="900" dirty="0"/>
          </a:p>
          <a:p>
            <a:r>
              <a:rPr lang="en-US" sz="1000" dirty="0"/>
              <a:t>Scaling for the speed limits: 50RPM =                       = +/-3579140 </a:t>
            </a:r>
            <a:r>
              <a:rPr lang="en-US" sz="1000" dirty="0" err="1"/>
              <a:t>inc</a:t>
            </a:r>
            <a:r>
              <a:rPr lang="en-US" sz="1000" dirty="0"/>
              <a:t>/</a:t>
            </a:r>
            <a:r>
              <a:rPr lang="en-US" sz="1000" dirty="0" err="1"/>
              <a:t>ms</a:t>
            </a:r>
            <a:r>
              <a:rPr lang="en-US" sz="1000" dirty="0"/>
              <a:t> </a:t>
            </a:r>
          </a:p>
        </p:txBody>
      </p:sp>
      <p:cxnSp>
        <p:nvCxnSpPr>
          <p:cNvPr id="16" name="Straight Connector 15">
            <a:extLst>
              <a:ext uri="{FF2B5EF4-FFF2-40B4-BE49-F238E27FC236}">
                <a16:creationId xmlns:a16="http://schemas.microsoft.com/office/drawing/2014/main" id="{6B9F85CE-5499-DEE1-8968-551F6D39EBE5}"/>
              </a:ext>
            </a:extLst>
          </p:cNvPr>
          <p:cNvCxnSpPr>
            <a:cxnSpLocks/>
          </p:cNvCxnSpPr>
          <p:nvPr/>
        </p:nvCxnSpPr>
        <p:spPr>
          <a:xfrm>
            <a:off x="5304216" y="4303916"/>
            <a:ext cx="646201" cy="0"/>
          </a:xfrm>
          <a:prstGeom prst="line">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509469F-83D5-1D06-193E-7A6423E6EB6D}"/>
              </a:ext>
            </a:extLst>
          </p:cNvPr>
          <p:cNvSpPr txBox="1"/>
          <p:nvPr/>
        </p:nvSpPr>
        <p:spPr>
          <a:xfrm>
            <a:off x="5193208" y="4053165"/>
            <a:ext cx="926992" cy="246221"/>
          </a:xfrm>
          <a:prstGeom prst="rect">
            <a:avLst/>
          </a:prstGeom>
          <a:noFill/>
        </p:spPr>
        <p:txBody>
          <a:bodyPr wrap="square" rtlCol="0">
            <a:spAutoFit/>
          </a:bodyPr>
          <a:lstStyle/>
          <a:p>
            <a:r>
              <a:rPr lang="en-US" sz="1000" dirty="0"/>
              <a:t>2^32/</a:t>
            </a:r>
            <a:r>
              <a:rPr lang="en-US" sz="1000" dirty="0" err="1"/>
              <a:t>inc</a:t>
            </a:r>
            <a:r>
              <a:rPr lang="en-US" sz="1000" dirty="0"/>
              <a:t>/</a:t>
            </a:r>
            <a:r>
              <a:rPr lang="en-US" sz="1000" dirty="0" err="1"/>
              <a:t>ms</a:t>
            </a:r>
            <a:endParaRPr lang="en-US" sz="1000" dirty="0"/>
          </a:p>
        </p:txBody>
      </p:sp>
      <p:sp>
        <p:nvSpPr>
          <p:cNvPr id="19" name="TextBox 18">
            <a:extLst>
              <a:ext uri="{FF2B5EF4-FFF2-40B4-BE49-F238E27FC236}">
                <a16:creationId xmlns:a16="http://schemas.microsoft.com/office/drawing/2014/main" id="{13CEAC82-5F1D-A7A9-F167-3276BBF99C9A}"/>
              </a:ext>
            </a:extLst>
          </p:cNvPr>
          <p:cNvSpPr txBox="1"/>
          <p:nvPr/>
        </p:nvSpPr>
        <p:spPr>
          <a:xfrm>
            <a:off x="5356096" y="4252847"/>
            <a:ext cx="926992" cy="246221"/>
          </a:xfrm>
          <a:prstGeom prst="rect">
            <a:avLst/>
          </a:prstGeom>
          <a:noFill/>
        </p:spPr>
        <p:txBody>
          <a:bodyPr wrap="square" rtlCol="0">
            <a:spAutoFit/>
          </a:bodyPr>
          <a:lstStyle/>
          <a:p>
            <a:r>
              <a:rPr lang="en-US" sz="1000" dirty="0"/>
              <a:t>1000</a:t>
            </a:r>
            <a:endParaRPr lang="en-US" sz="1050" dirty="0"/>
          </a:p>
        </p:txBody>
      </p:sp>
      <p:sp>
        <p:nvSpPr>
          <p:cNvPr id="20" name="Rectangle 19">
            <a:extLst>
              <a:ext uri="{FF2B5EF4-FFF2-40B4-BE49-F238E27FC236}">
                <a16:creationId xmlns:a16="http://schemas.microsoft.com/office/drawing/2014/main" id="{648B9DEE-42ED-3485-A659-8A423B58462E}"/>
              </a:ext>
            </a:extLst>
          </p:cNvPr>
          <p:cNvSpPr/>
          <p:nvPr/>
        </p:nvSpPr>
        <p:spPr>
          <a:xfrm>
            <a:off x="3871956" y="4492803"/>
            <a:ext cx="8105687" cy="126778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endParaRPr lang="en-US" sz="1200" kern="1200" baseline="0" dirty="0">
              <a:solidFill>
                <a:schemeClr val="tx1"/>
              </a:solidFill>
              <a:latin typeface="+mj-lt"/>
              <a:ea typeface="+mn-ea"/>
              <a:cs typeface="Arial" pitchFamily="34" charset="0"/>
            </a:endParaRPr>
          </a:p>
        </p:txBody>
      </p:sp>
      <p:sp>
        <p:nvSpPr>
          <p:cNvPr id="22" name="TextBox 21">
            <a:extLst>
              <a:ext uri="{FF2B5EF4-FFF2-40B4-BE49-F238E27FC236}">
                <a16:creationId xmlns:a16="http://schemas.microsoft.com/office/drawing/2014/main" id="{D50F7408-BF81-B017-8928-4510645B29EC}"/>
              </a:ext>
            </a:extLst>
          </p:cNvPr>
          <p:cNvSpPr txBox="1"/>
          <p:nvPr/>
        </p:nvSpPr>
        <p:spPr>
          <a:xfrm>
            <a:off x="4052843" y="4531734"/>
            <a:ext cx="7924800" cy="1384995"/>
          </a:xfrm>
          <a:prstGeom prst="rect">
            <a:avLst/>
          </a:prstGeom>
          <a:noFill/>
        </p:spPr>
        <p:txBody>
          <a:bodyPr wrap="square" rtlCol="0">
            <a:spAutoFit/>
          </a:bodyPr>
          <a:lstStyle/>
          <a:p>
            <a:r>
              <a:rPr lang="en-US" sz="1050" b="1" dirty="0"/>
              <a:t>Function Block: SLS_1_Enabled:</a:t>
            </a:r>
          </a:p>
          <a:p>
            <a:r>
              <a:rPr lang="en-US" sz="900" dirty="0"/>
              <a:t>This function block is responsible for handling the error response when the limits are exceeded or not reached.</a:t>
            </a:r>
          </a:p>
          <a:p>
            <a:r>
              <a:rPr lang="en-US" sz="900" dirty="0"/>
              <a:t>ChA.SLS_1_CMD = FALSE</a:t>
            </a:r>
            <a:r>
              <a:rPr lang="en-US" sz="900" dirty="0">
                <a:sym typeface="Wingdings" panose="05000000000000000000" pitchFamily="2" charset="2"/>
              </a:rPr>
              <a:t>SLS-Function is </a:t>
            </a:r>
            <a:r>
              <a:rPr lang="en-US" sz="900" dirty="0" err="1">
                <a:sym typeface="Wingdings" panose="05000000000000000000" pitchFamily="2" charset="2"/>
              </a:rPr>
              <a:t>activeIs</a:t>
            </a:r>
            <a:r>
              <a:rPr lang="en-US" sz="900" dirty="0">
                <a:sym typeface="Wingdings" panose="05000000000000000000" pitchFamily="2" charset="2"/>
              </a:rPr>
              <a:t> controlled via the SAFEMOTION FSoE Connection object[SLS_1_CHA].</a:t>
            </a:r>
            <a:r>
              <a:rPr lang="en-US" sz="900" dirty="0"/>
              <a:t> </a:t>
            </a:r>
          </a:p>
          <a:p>
            <a:r>
              <a:rPr lang="en-US" sz="900" dirty="0"/>
              <a:t>ChA.SLS_1_CMD = TRUE</a:t>
            </a:r>
            <a:r>
              <a:rPr lang="en-US" sz="900" dirty="0">
                <a:sym typeface="Wingdings" panose="05000000000000000000" pitchFamily="2" charset="2"/>
              </a:rPr>
              <a:t>SLS-Function is </a:t>
            </a:r>
            <a:r>
              <a:rPr lang="en-US" sz="900" dirty="0" err="1">
                <a:sym typeface="Wingdings" panose="05000000000000000000" pitchFamily="2" charset="2"/>
              </a:rPr>
              <a:t>activeIs</a:t>
            </a:r>
            <a:r>
              <a:rPr lang="en-US" sz="900" dirty="0">
                <a:sym typeface="Wingdings" panose="05000000000000000000" pitchFamily="2" charset="2"/>
              </a:rPr>
              <a:t> controlled via the SAFEMOTION FSoE Connection object[SLS_1_CHA].</a:t>
            </a:r>
          </a:p>
          <a:p>
            <a:r>
              <a:rPr lang="en-US" sz="900" dirty="0">
                <a:sym typeface="Wingdings" panose="05000000000000000000" pitchFamily="2" charset="2"/>
              </a:rPr>
              <a:t>Function:</a:t>
            </a:r>
          </a:p>
          <a:p>
            <a:r>
              <a:rPr lang="en-US" sz="900" dirty="0">
                <a:sym typeface="Wingdings" panose="05000000000000000000" pitchFamily="2" charset="2"/>
              </a:rPr>
              <a:t>If the SLS function is active by the ChA.SLS_1_CMD, the output of the function block [SLS_1_Enable] FALSE and SS1/STO is triggered in case of a limit override because the Input in the STO_SS1_ErrorHandling-Project [CHA_STO_SS1_ErrorHandling.STO_SS1_1.SAFEMOTION_ChA_1.AndIn1 (monIn4?) becomes False. </a:t>
            </a:r>
            <a:r>
              <a:rPr lang="en-US" sz="900" dirty="0"/>
              <a:t> </a:t>
            </a:r>
          </a:p>
          <a:p>
            <a:endParaRPr lang="en-US" sz="1050" dirty="0"/>
          </a:p>
        </p:txBody>
      </p:sp>
      <p:sp>
        <p:nvSpPr>
          <p:cNvPr id="27" name="Rectangle 26">
            <a:extLst>
              <a:ext uri="{FF2B5EF4-FFF2-40B4-BE49-F238E27FC236}">
                <a16:creationId xmlns:a16="http://schemas.microsoft.com/office/drawing/2014/main" id="{AAF03114-7B7F-BF74-6369-B01DFD078DE6}"/>
              </a:ext>
            </a:extLst>
          </p:cNvPr>
          <p:cNvSpPr/>
          <p:nvPr/>
        </p:nvSpPr>
        <p:spPr>
          <a:xfrm>
            <a:off x="6248400" y="5831342"/>
            <a:ext cx="5446801" cy="983222"/>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R="0" algn="l" defTabSz="914400" rtl="0" eaLnBrk="1" fontAlgn="auto" latinLnBrk="0" hangingPunct="1">
              <a:lnSpc>
                <a:spcPct val="100000"/>
              </a:lnSpc>
              <a:spcBef>
                <a:spcPts val="600"/>
              </a:spcBef>
              <a:spcAft>
                <a:spcPts val="0"/>
              </a:spcAft>
              <a:buClrTx/>
              <a:buSzTx/>
              <a:tabLst/>
            </a:pPr>
            <a:endParaRPr lang="en-US" sz="1200" kern="1200" baseline="0" dirty="0">
              <a:solidFill>
                <a:schemeClr val="tx1"/>
              </a:solidFill>
              <a:latin typeface="+mj-lt"/>
              <a:ea typeface="+mn-ea"/>
              <a:cs typeface="Arial" pitchFamily="34" charset="0"/>
            </a:endParaRPr>
          </a:p>
        </p:txBody>
      </p:sp>
      <p:sp>
        <p:nvSpPr>
          <p:cNvPr id="28" name="TextBox 27">
            <a:extLst>
              <a:ext uri="{FF2B5EF4-FFF2-40B4-BE49-F238E27FC236}">
                <a16:creationId xmlns:a16="http://schemas.microsoft.com/office/drawing/2014/main" id="{50F4E592-E733-7AAE-E047-D47774680DAD}"/>
              </a:ext>
            </a:extLst>
          </p:cNvPr>
          <p:cNvSpPr txBox="1"/>
          <p:nvPr/>
        </p:nvSpPr>
        <p:spPr>
          <a:xfrm>
            <a:off x="6248400" y="5812597"/>
            <a:ext cx="7638090" cy="1084912"/>
          </a:xfrm>
          <a:prstGeom prst="rect">
            <a:avLst/>
          </a:prstGeom>
          <a:noFill/>
        </p:spPr>
        <p:txBody>
          <a:bodyPr wrap="square" rtlCol="0">
            <a:spAutoFit/>
          </a:bodyPr>
          <a:lstStyle/>
          <a:p>
            <a:r>
              <a:rPr lang="en-US" sz="900" b="1" dirty="0"/>
              <a:t>Function Block: INVERT_SLS_1_STATE_ChA:</a:t>
            </a:r>
          </a:p>
          <a:p>
            <a:r>
              <a:rPr lang="en-US" sz="900" dirty="0"/>
              <a:t>This function </a:t>
            </a:r>
            <a:r>
              <a:rPr lang="en-US" sz="900" dirty="0" err="1"/>
              <a:t>blok</a:t>
            </a:r>
            <a:r>
              <a:rPr lang="en-US" sz="900" dirty="0"/>
              <a:t> is for the status generation of the SLS function. </a:t>
            </a:r>
          </a:p>
          <a:p>
            <a:r>
              <a:rPr lang="en-US" sz="900" dirty="0"/>
              <a:t>ChA.SLS_1_STATE = TRUE</a:t>
            </a:r>
            <a:r>
              <a:rPr lang="en-US" sz="900" dirty="0">
                <a:sym typeface="Wingdings" panose="05000000000000000000" pitchFamily="2" charset="2"/>
              </a:rPr>
              <a:t>SLS-Function is active and speed is in the </a:t>
            </a:r>
            <a:r>
              <a:rPr lang="en-US" sz="900" dirty="0" err="1">
                <a:sym typeface="Wingdings" panose="05000000000000000000" pitchFamily="2" charset="2"/>
              </a:rPr>
              <a:t>limitIs</a:t>
            </a:r>
            <a:r>
              <a:rPr lang="en-US" sz="900" dirty="0">
                <a:sym typeface="Wingdings" panose="05000000000000000000" pitchFamily="2" charset="2"/>
              </a:rPr>
              <a:t> forwarded to </a:t>
            </a:r>
          </a:p>
          <a:p>
            <a:r>
              <a:rPr lang="en-US" sz="900" dirty="0">
                <a:sym typeface="Wingdings" panose="05000000000000000000" pitchFamily="2" charset="2"/>
              </a:rPr>
              <a:t>SAFEMOTION FSoE Connection object[SLS_1_active_CHA].</a:t>
            </a:r>
            <a:r>
              <a:rPr lang="en-US" sz="900" dirty="0"/>
              <a:t> </a:t>
            </a:r>
          </a:p>
          <a:p>
            <a:r>
              <a:rPr lang="en-US" sz="900" dirty="0"/>
              <a:t>ChA.SLS_1_STATE = FALSE</a:t>
            </a:r>
            <a:r>
              <a:rPr lang="en-US" sz="900" dirty="0">
                <a:sym typeface="Wingdings" panose="05000000000000000000" pitchFamily="2" charset="2"/>
              </a:rPr>
              <a:t>SLS-Function is not active and speed is in the </a:t>
            </a:r>
            <a:r>
              <a:rPr lang="en-US" sz="900" dirty="0" err="1">
                <a:sym typeface="Wingdings" panose="05000000000000000000" pitchFamily="2" charset="2"/>
              </a:rPr>
              <a:t>limitIs</a:t>
            </a:r>
            <a:r>
              <a:rPr lang="en-US" sz="900" dirty="0">
                <a:sym typeface="Wingdings" panose="05000000000000000000" pitchFamily="2" charset="2"/>
              </a:rPr>
              <a:t> forwarded to </a:t>
            </a:r>
          </a:p>
          <a:p>
            <a:r>
              <a:rPr lang="en-US" sz="900" dirty="0">
                <a:sym typeface="Wingdings" panose="05000000000000000000" pitchFamily="2" charset="2"/>
              </a:rPr>
              <a:t>SAFEMOTION FSoE Connection object[SLS_1_active_CHA].</a:t>
            </a:r>
            <a:r>
              <a:rPr lang="en-US" sz="900" dirty="0"/>
              <a:t> </a:t>
            </a:r>
          </a:p>
          <a:p>
            <a:endParaRPr lang="en-US" sz="1050" dirty="0"/>
          </a:p>
        </p:txBody>
      </p:sp>
      <p:sp>
        <p:nvSpPr>
          <p:cNvPr id="29" name="Rectangle 28">
            <a:extLst>
              <a:ext uri="{FF2B5EF4-FFF2-40B4-BE49-F238E27FC236}">
                <a16:creationId xmlns:a16="http://schemas.microsoft.com/office/drawing/2014/main" id="{6AA6F11C-C3B0-10BA-1EC9-E551FD909DD7}"/>
              </a:ext>
            </a:extLst>
          </p:cNvPr>
          <p:cNvSpPr/>
          <p:nvPr/>
        </p:nvSpPr>
        <p:spPr>
          <a:xfrm>
            <a:off x="9260174" y="2101673"/>
            <a:ext cx="2129852" cy="941080"/>
          </a:xfrm>
          <a:prstGeom prst="rect">
            <a:avLst/>
          </a:prstGeom>
          <a:noFill/>
          <a:ln w="127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0" name="Rectangle 29">
            <a:extLst>
              <a:ext uri="{FF2B5EF4-FFF2-40B4-BE49-F238E27FC236}">
                <a16:creationId xmlns:a16="http://schemas.microsoft.com/office/drawing/2014/main" id="{76203680-2005-E5C8-A4CA-D6ECF573F041}"/>
              </a:ext>
            </a:extLst>
          </p:cNvPr>
          <p:cNvSpPr/>
          <p:nvPr/>
        </p:nvSpPr>
        <p:spPr>
          <a:xfrm>
            <a:off x="6420024" y="1799822"/>
            <a:ext cx="2342975" cy="1513717"/>
          </a:xfrm>
          <a:prstGeom prst="rect">
            <a:avLst/>
          </a:prstGeom>
          <a:noFill/>
          <a:ln w="12700">
            <a:solidFill>
              <a:srgbClr val="92D05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31" name="Rectangle 30">
            <a:extLst>
              <a:ext uri="{FF2B5EF4-FFF2-40B4-BE49-F238E27FC236}">
                <a16:creationId xmlns:a16="http://schemas.microsoft.com/office/drawing/2014/main" id="{D46DEC2F-14A1-B07F-19B2-B095FE575DCE}"/>
              </a:ext>
            </a:extLst>
          </p:cNvPr>
          <p:cNvSpPr/>
          <p:nvPr/>
        </p:nvSpPr>
        <p:spPr>
          <a:xfrm>
            <a:off x="3248041" y="1783046"/>
            <a:ext cx="2342975" cy="1455057"/>
          </a:xfrm>
          <a:prstGeom prst="rect">
            <a:avLst/>
          </a:prstGeom>
          <a:noFill/>
          <a:ln w="12700">
            <a:solidFill>
              <a:srgbClr val="ED53D7"/>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91764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4" grpId="0"/>
      <p:bldP spid="17" grpId="0"/>
      <p:bldP spid="19" grpId="0"/>
      <p:bldP spid="20" grpId="0" animBg="1"/>
      <p:bldP spid="22" grpId="0"/>
      <p:bldP spid="27" grpId="0" animBg="1"/>
      <p:bldP spid="28" grpId="0"/>
      <p:bldP spid="29" grpId="0" animBg="1"/>
      <p:bldP spid="30" grpId="0" animBg="1"/>
      <p:bldP spid="3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F5C60D-A576-4292-09AF-887E19BD59E7}"/>
              </a:ext>
            </a:extLst>
          </p:cNvPr>
          <p:cNvSpPr>
            <a:spLocks noGrp="1"/>
          </p:cNvSpPr>
          <p:nvPr>
            <p:ph type="body" sz="quarter" idx="15"/>
          </p:nvPr>
        </p:nvSpPr>
        <p:spPr/>
        <p:txBody>
          <a:bodyPr/>
          <a:lstStyle/>
          <a:p>
            <a:pPr marL="0" indent="0">
              <a:buNone/>
            </a:pPr>
            <a:r>
              <a:rPr lang="en-US" dirty="0"/>
              <a:t>Introduction to the SLS Calculator. </a:t>
            </a:r>
          </a:p>
          <a:p>
            <a:pPr marL="0" indent="0">
              <a:buNone/>
            </a:pPr>
            <a:endParaRPr lang="en-US" dirty="0"/>
          </a:p>
          <a:p>
            <a:pPr marL="0" indent="0">
              <a:buNone/>
            </a:pPr>
            <a:endParaRPr lang="en-US" dirty="0"/>
          </a:p>
        </p:txBody>
      </p:sp>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pic>
        <p:nvPicPr>
          <p:cNvPr id="7" name="Picture 6">
            <a:extLst>
              <a:ext uri="{FF2B5EF4-FFF2-40B4-BE49-F238E27FC236}">
                <a16:creationId xmlns:a16="http://schemas.microsoft.com/office/drawing/2014/main" id="{E090F2DE-5E63-AE68-71A8-4D8D32DFF1DB}"/>
              </a:ext>
            </a:extLst>
          </p:cNvPr>
          <p:cNvPicPr>
            <a:picLocks noChangeAspect="1"/>
          </p:cNvPicPr>
          <p:nvPr/>
        </p:nvPicPr>
        <p:blipFill>
          <a:blip r:embed="rId2"/>
          <a:stretch>
            <a:fillRect/>
          </a:stretch>
        </p:blipFill>
        <p:spPr>
          <a:xfrm>
            <a:off x="304800" y="2057400"/>
            <a:ext cx="11049003" cy="4687958"/>
          </a:xfrm>
          <a:prstGeom prst="rect">
            <a:avLst/>
          </a:prstGeom>
        </p:spPr>
      </p:pic>
      <p:sp>
        <p:nvSpPr>
          <p:cNvPr id="8" name="Rectangle 7">
            <a:extLst>
              <a:ext uri="{FF2B5EF4-FFF2-40B4-BE49-F238E27FC236}">
                <a16:creationId xmlns:a16="http://schemas.microsoft.com/office/drawing/2014/main" id="{070351A2-664A-BE2A-FE3E-DC421F558A40}"/>
              </a:ext>
            </a:extLst>
          </p:cNvPr>
          <p:cNvSpPr/>
          <p:nvPr/>
        </p:nvSpPr>
        <p:spPr>
          <a:xfrm>
            <a:off x="304800" y="3886200"/>
            <a:ext cx="6781800" cy="9906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4201508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31B38-A938-2C98-2A8B-98C863A0F352}"/>
              </a:ext>
            </a:extLst>
          </p:cNvPr>
          <p:cNvSpPr>
            <a:spLocks noGrp="1"/>
          </p:cNvSpPr>
          <p:nvPr>
            <p:ph type="body" sz="quarter" idx="15"/>
          </p:nvPr>
        </p:nvSpPr>
        <p:spPr>
          <a:xfrm>
            <a:off x="2" y="1090799"/>
            <a:ext cx="7619997" cy="2719201"/>
          </a:xfrm>
        </p:spPr>
        <p:txBody>
          <a:bodyPr/>
          <a:lstStyle/>
          <a:p>
            <a:pPr marL="342900" indent="-342900">
              <a:buFont typeface="Arial" panose="020B0604020202020204" pitchFamily="34" charset="0"/>
              <a:buChar char="•"/>
            </a:pPr>
            <a:r>
              <a:rPr lang="en-US" dirty="0"/>
              <a:t>Navigate to ChB_SLS_1.sal</a:t>
            </a:r>
          </a:p>
          <a:p>
            <a:pPr marL="342900" indent="-342900">
              <a:buFont typeface="Arial" panose="020B0604020202020204" pitchFamily="34" charset="0"/>
              <a:buChar char="•"/>
            </a:pPr>
            <a:r>
              <a:rPr lang="en-US" dirty="0"/>
              <a:t>Input Min/Max values for the </a:t>
            </a:r>
            <a:r>
              <a:rPr lang="en-US" dirty="0" err="1"/>
              <a:t>safeLimit</a:t>
            </a:r>
            <a:endParaRPr lang="en-US" dirty="0"/>
          </a:p>
          <a:p>
            <a:pPr marL="342900" indent="-342900">
              <a:buFont typeface="Arial" panose="020B0604020202020204" pitchFamily="34" charset="0"/>
              <a:buChar char="•"/>
            </a:pPr>
            <a:r>
              <a:rPr lang="en-US" dirty="0"/>
              <a:t>Save-All</a:t>
            </a:r>
            <a:br>
              <a:rPr lang="en-US" dirty="0"/>
            </a:br>
            <a:endParaRPr lang="en-US" dirty="0"/>
          </a:p>
          <a:p>
            <a:pPr marL="342900" indent="-342900">
              <a:buFont typeface="Arial" panose="020B0604020202020204" pitchFamily="34" charset="0"/>
              <a:buChar char="•"/>
            </a:pPr>
            <a:r>
              <a:rPr lang="en-US" dirty="0"/>
              <a:t>See next slide for explanation of min/max calculation</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None/>
            </a:pPr>
            <a:endParaRPr lang="en-US" b="1" dirty="0"/>
          </a:p>
        </p:txBody>
      </p:sp>
      <p:sp>
        <p:nvSpPr>
          <p:cNvPr id="5" name="Title 4">
            <a:extLst>
              <a:ext uri="{FF2B5EF4-FFF2-40B4-BE49-F238E27FC236}">
                <a16:creationId xmlns:a16="http://schemas.microsoft.com/office/drawing/2014/main" id="{59E93C23-5D5B-176E-958E-F833262CBBF3}"/>
              </a:ext>
            </a:extLst>
          </p:cNvPr>
          <p:cNvSpPr>
            <a:spLocks noGrp="1"/>
          </p:cNvSpPr>
          <p:nvPr>
            <p:ph type="title"/>
          </p:nvPr>
        </p:nvSpPr>
        <p:spPr/>
        <p:txBody>
          <a:bodyPr/>
          <a:lstStyle/>
          <a:p>
            <a:r>
              <a:rPr lang="de-DE" dirty="0"/>
              <a:t>Multisettings Training Lab</a:t>
            </a:r>
            <a:endParaRPr lang="en-US" dirty="0"/>
          </a:p>
        </p:txBody>
      </p:sp>
      <p:sp>
        <p:nvSpPr>
          <p:cNvPr id="28" name="Text Placeholder 3">
            <a:extLst>
              <a:ext uri="{FF2B5EF4-FFF2-40B4-BE49-F238E27FC236}">
                <a16:creationId xmlns:a16="http://schemas.microsoft.com/office/drawing/2014/main" id="{81B0798A-06EB-00C0-8203-61E733FA94C9}"/>
              </a:ext>
            </a:extLst>
          </p:cNvPr>
          <p:cNvSpPr txBox="1">
            <a:spLocks/>
          </p:cNvSpPr>
          <p:nvPr/>
        </p:nvSpPr>
        <p:spPr bwMode="gray">
          <a:xfrm>
            <a:off x="32161" y="3581400"/>
            <a:ext cx="4616039" cy="2719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sz="1800" dirty="0"/>
              <a:t>Note: Pay attention to the min/max value placement. As the min is on top and the max is on bottom. </a:t>
            </a:r>
          </a:p>
          <a:p>
            <a:pPr marL="342900" indent="-342900">
              <a:buFont typeface="Arial" panose="020B0604020202020204" pitchFamily="34" charset="0"/>
              <a:buChar char="•"/>
            </a:pPr>
            <a:r>
              <a:rPr lang="en-US" sz="1800" dirty="0"/>
              <a:t>Some FBs this is reversed with max on top and min on bottom.</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3" name="Picture 2">
            <a:extLst>
              <a:ext uri="{FF2B5EF4-FFF2-40B4-BE49-F238E27FC236}">
                <a16:creationId xmlns:a16="http://schemas.microsoft.com/office/drawing/2014/main" id="{77525BE8-5FBA-4DB4-A297-8E807FD304FB}"/>
              </a:ext>
            </a:extLst>
          </p:cNvPr>
          <p:cNvPicPr>
            <a:picLocks noChangeAspect="1"/>
          </p:cNvPicPr>
          <p:nvPr/>
        </p:nvPicPr>
        <p:blipFill>
          <a:blip r:embed="rId3"/>
          <a:stretch>
            <a:fillRect/>
          </a:stretch>
        </p:blipFill>
        <p:spPr>
          <a:xfrm>
            <a:off x="4495799" y="3422284"/>
            <a:ext cx="7698549" cy="3435716"/>
          </a:xfrm>
          <a:prstGeom prst="rect">
            <a:avLst/>
          </a:prstGeom>
        </p:spPr>
      </p:pic>
      <p:sp>
        <p:nvSpPr>
          <p:cNvPr id="27" name="Rectangle 26">
            <a:extLst>
              <a:ext uri="{FF2B5EF4-FFF2-40B4-BE49-F238E27FC236}">
                <a16:creationId xmlns:a16="http://schemas.microsoft.com/office/drawing/2014/main" id="{087DBB0C-25E1-5303-0509-1EAB5B97EEAD}"/>
              </a:ext>
            </a:extLst>
          </p:cNvPr>
          <p:cNvSpPr/>
          <p:nvPr/>
        </p:nvSpPr>
        <p:spPr>
          <a:xfrm flipV="1">
            <a:off x="10591800" y="5562599"/>
            <a:ext cx="838200" cy="685800"/>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4158305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F5C60D-A576-4292-09AF-887E19BD59E7}"/>
              </a:ext>
            </a:extLst>
          </p:cNvPr>
          <p:cNvSpPr>
            <a:spLocks noGrp="1"/>
          </p:cNvSpPr>
          <p:nvPr>
            <p:ph type="body" sz="quarter" idx="15"/>
          </p:nvPr>
        </p:nvSpPr>
        <p:spPr/>
        <p:txBody>
          <a:bodyPr/>
          <a:lstStyle/>
          <a:p>
            <a:pPr marL="0" indent="0">
              <a:buNone/>
            </a:pPr>
            <a:r>
              <a:rPr lang="en-US" dirty="0"/>
              <a:t>Introduction to the SLS Calculator. </a:t>
            </a:r>
          </a:p>
          <a:p>
            <a:pPr marL="0" indent="0">
              <a:buNone/>
            </a:pPr>
            <a:endParaRPr lang="en-US" dirty="0"/>
          </a:p>
          <a:p>
            <a:pPr marL="0" indent="0">
              <a:buNone/>
            </a:pPr>
            <a:endParaRPr lang="en-US" dirty="0"/>
          </a:p>
        </p:txBody>
      </p:sp>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9BC074A3-05C9-C3A4-AA8A-81CEFDF49F71}"/>
              </a:ext>
            </a:extLst>
          </p:cNvPr>
          <p:cNvPicPr>
            <a:picLocks noChangeAspect="1"/>
          </p:cNvPicPr>
          <p:nvPr/>
        </p:nvPicPr>
        <p:blipFill>
          <a:blip r:embed="rId2"/>
          <a:stretch>
            <a:fillRect/>
          </a:stretch>
        </p:blipFill>
        <p:spPr>
          <a:xfrm>
            <a:off x="995493" y="2058969"/>
            <a:ext cx="10201013" cy="4580684"/>
          </a:xfrm>
          <a:prstGeom prst="rect">
            <a:avLst/>
          </a:prstGeom>
        </p:spPr>
      </p:pic>
      <p:sp>
        <p:nvSpPr>
          <p:cNvPr id="8" name="Rectangle 7">
            <a:extLst>
              <a:ext uri="{FF2B5EF4-FFF2-40B4-BE49-F238E27FC236}">
                <a16:creationId xmlns:a16="http://schemas.microsoft.com/office/drawing/2014/main" id="{070351A2-664A-BE2A-FE3E-DC421F558A40}"/>
              </a:ext>
            </a:extLst>
          </p:cNvPr>
          <p:cNvSpPr/>
          <p:nvPr/>
        </p:nvSpPr>
        <p:spPr>
          <a:xfrm>
            <a:off x="1219200" y="3962400"/>
            <a:ext cx="6629400" cy="9906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759488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1376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Introduction to Multi Settings.</a:t>
            </a:r>
          </a:p>
          <a:p>
            <a:pPr marL="342900" indent="-342900">
              <a:buFont typeface="Arial" panose="020B0604020202020204" pitchFamily="34" charset="0"/>
              <a:buChar char="•"/>
            </a:pPr>
            <a:r>
              <a:rPr lang="en-US" dirty="0"/>
              <a:t>Navigate to the Multi </a:t>
            </a:r>
            <a:r>
              <a:rPr lang="en-US" dirty="0" err="1"/>
              <a:t>Setting.sms</a:t>
            </a:r>
            <a:r>
              <a:rPr lang="en-US" dirty="0"/>
              <a:t> file in the AX8000 safety project</a:t>
            </a:r>
            <a:endParaRPr lang="en-US" u="sng"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10" name="Picture 9">
            <a:extLst>
              <a:ext uri="{FF2B5EF4-FFF2-40B4-BE49-F238E27FC236}">
                <a16:creationId xmlns:a16="http://schemas.microsoft.com/office/drawing/2014/main" id="{E65075EE-0449-F9F6-E830-1759B77749BB}"/>
              </a:ext>
            </a:extLst>
          </p:cNvPr>
          <p:cNvPicPr>
            <a:picLocks noChangeAspect="1"/>
          </p:cNvPicPr>
          <p:nvPr/>
        </p:nvPicPr>
        <p:blipFill>
          <a:blip r:embed="rId2"/>
          <a:stretch>
            <a:fillRect/>
          </a:stretch>
        </p:blipFill>
        <p:spPr>
          <a:xfrm>
            <a:off x="0" y="2519389"/>
            <a:ext cx="12192000" cy="3258457"/>
          </a:xfrm>
          <a:prstGeom prst="rect">
            <a:avLst/>
          </a:prstGeom>
        </p:spPr>
      </p:pic>
    </p:spTree>
    <p:extLst>
      <p:ext uri="{BB962C8B-B14F-4D97-AF65-F5344CB8AC3E}">
        <p14:creationId xmlns:p14="http://schemas.microsoft.com/office/powerpoint/2010/main" val="3896802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Manually link FSOE data for our second drive.</a:t>
            </a:r>
          </a:p>
          <a:p>
            <a:pPr marL="695700" lvl="1" indent="-342900">
              <a:buFont typeface="Arial" panose="020B0604020202020204" pitchFamily="34" charset="0"/>
              <a:buChar char="•"/>
            </a:pPr>
            <a:r>
              <a:rPr lang="en-US" dirty="0"/>
              <a:t>See next slide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7" name="Picture 6">
            <a:extLst>
              <a:ext uri="{FF2B5EF4-FFF2-40B4-BE49-F238E27FC236}">
                <a16:creationId xmlns:a16="http://schemas.microsoft.com/office/drawing/2014/main" id="{6581C82D-8B36-AC7C-FF96-24CA99EC36D4}"/>
              </a:ext>
            </a:extLst>
          </p:cNvPr>
          <p:cNvPicPr>
            <a:picLocks noChangeAspect="1"/>
          </p:cNvPicPr>
          <p:nvPr/>
        </p:nvPicPr>
        <p:blipFill>
          <a:blip r:embed="rId2"/>
          <a:stretch>
            <a:fillRect/>
          </a:stretch>
        </p:blipFill>
        <p:spPr>
          <a:xfrm>
            <a:off x="310996" y="3418355"/>
            <a:ext cx="11639550" cy="2171700"/>
          </a:xfrm>
          <a:prstGeom prst="rect">
            <a:avLst/>
          </a:prstGeom>
        </p:spPr>
      </p:pic>
    </p:spTree>
    <p:extLst>
      <p:ext uri="{BB962C8B-B14F-4D97-AF65-F5344CB8AC3E}">
        <p14:creationId xmlns:p14="http://schemas.microsoft.com/office/powerpoint/2010/main" val="3826511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Before we can link, we need to update the Process Image for the target system.</a:t>
            </a:r>
          </a:p>
          <a:p>
            <a:pPr marL="695700" lvl="1" indent="-342900">
              <a:buFont typeface="Arial" panose="020B0604020202020204" pitchFamily="34" charset="0"/>
              <a:buChar char="•"/>
            </a:pPr>
            <a:r>
              <a:rPr lang="en-US" dirty="0"/>
              <a:t>We do this with a simple button click below.</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23E9BF1A-1B41-003C-97AF-89506B80B055}"/>
              </a:ext>
            </a:extLst>
          </p:cNvPr>
          <p:cNvPicPr>
            <a:picLocks noChangeAspect="1"/>
          </p:cNvPicPr>
          <p:nvPr/>
        </p:nvPicPr>
        <p:blipFill>
          <a:blip r:embed="rId2"/>
          <a:stretch>
            <a:fillRect/>
          </a:stretch>
        </p:blipFill>
        <p:spPr>
          <a:xfrm>
            <a:off x="3442283" y="3124200"/>
            <a:ext cx="4276725" cy="2875943"/>
          </a:xfrm>
          <a:prstGeom prst="rect">
            <a:avLst/>
          </a:prstGeom>
        </p:spPr>
      </p:pic>
      <p:sp>
        <p:nvSpPr>
          <p:cNvPr id="6" name="Rectangle 5">
            <a:extLst>
              <a:ext uri="{FF2B5EF4-FFF2-40B4-BE49-F238E27FC236}">
                <a16:creationId xmlns:a16="http://schemas.microsoft.com/office/drawing/2014/main" id="{E69B5395-37C8-A0E4-4F7D-D2CDDF8203C3}"/>
              </a:ext>
            </a:extLst>
          </p:cNvPr>
          <p:cNvSpPr/>
          <p:nvPr/>
        </p:nvSpPr>
        <p:spPr>
          <a:xfrm>
            <a:off x="5068799" y="3514322"/>
            <a:ext cx="493801" cy="5334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8" name="Straight Arrow Connector 7">
            <a:extLst>
              <a:ext uri="{FF2B5EF4-FFF2-40B4-BE49-F238E27FC236}">
                <a16:creationId xmlns:a16="http://schemas.microsoft.com/office/drawing/2014/main" id="{7925B693-889C-AB2B-3714-E4E3892CCF98}"/>
              </a:ext>
            </a:extLst>
          </p:cNvPr>
          <p:cNvCxnSpPr>
            <a:cxnSpLocks/>
            <a:endCxn id="6" idx="0"/>
          </p:cNvCxnSpPr>
          <p:nvPr/>
        </p:nvCxnSpPr>
        <p:spPr>
          <a:xfrm flipH="1">
            <a:off x="5315700" y="2133600"/>
            <a:ext cx="94500" cy="1380722"/>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482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Click the Refresh view button next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23E9BF1A-1B41-003C-97AF-89506B80B055}"/>
              </a:ext>
            </a:extLst>
          </p:cNvPr>
          <p:cNvPicPr>
            <a:picLocks noChangeAspect="1"/>
          </p:cNvPicPr>
          <p:nvPr/>
        </p:nvPicPr>
        <p:blipFill>
          <a:blip r:embed="rId2"/>
          <a:stretch>
            <a:fillRect/>
          </a:stretch>
        </p:blipFill>
        <p:spPr>
          <a:xfrm>
            <a:off x="108666" y="2728519"/>
            <a:ext cx="4276725" cy="2875943"/>
          </a:xfrm>
          <a:prstGeom prst="rect">
            <a:avLst/>
          </a:prstGeom>
        </p:spPr>
      </p:pic>
      <p:sp>
        <p:nvSpPr>
          <p:cNvPr id="6" name="Rectangle 5">
            <a:extLst>
              <a:ext uri="{FF2B5EF4-FFF2-40B4-BE49-F238E27FC236}">
                <a16:creationId xmlns:a16="http://schemas.microsoft.com/office/drawing/2014/main" id="{E69B5395-37C8-A0E4-4F7D-D2CDDF8203C3}"/>
              </a:ext>
            </a:extLst>
          </p:cNvPr>
          <p:cNvSpPr/>
          <p:nvPr/>
        </p:nvSpPr>
        <p:spPr>
          <a:xfrm>
            <a:off x="3782364" y="3124200"/>
            <a:ext cx="493801" cy="5334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8" name="Straight Arrow Connector 7">
            <a:extLst>
              <a:ext uri="{FF2B5EF4-FFF2-40B4-BE49-F238E27FC236}">
                <a16:creationId xmlns:a16="http://schemas.microsoft.com/office/drawing/2014/main" id="{7925B693-889C-AB2B-3714-E4E3892CCF98}"/>
              </a:ext>
            </a:extLst>
          </p:cNvPr>
          <p:cNvCxnSpPr>
            <a:cxnSpLocks/>
            <a:endCxn id="6" idx="0"/>
          </p:cNvCxnSpPr>
          <p:nvPr/>
        </p:nvCxnSpPr>
        <p:spPr>
          <a:xfrm>
            <a:off x="4029265" y="1682066"/>
            <a:ext cx="0" cy="1442134"/>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94BBD501-664D-070B-A33F-153561DE3B91}"/>
              </a:ext>
            </a:extLst>
          </p:cNvPr>
          <p:cNvSpPr txBox="1">
            <a:spLocks/>
          </p:cNvSpPr>
          <p:nvPr/>
        </p:nvSpPr>
        <p:spPr bwMode="gray">
          <a:xfrm>
            <a:off x="5077664" y="1682066"/>
            <a:ext cx="6556200" cy="2327098"/>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This will update the Multi </a:t>
            </a:r>
            <a:r>
              <a:rPr lang="en-US" dirty="0" err="1"/>
              <a:t>Setting.sms</a:t>
            </a:r>
            <a:r>
              <a:rPr lang="en-US" dirty="0"/>
              <a:t> values for our SLS function blocks and RUN/ERR_ACK links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7" name="Picture 6">
            <a:extLst>
              <a:ext uri="{FF2B5EF4-FFF2-40B4-BE49-F238E27FC236}">
                <a16:creationId xmlns:a16="http://schemas.microsoft.com/office/drawing/2014/main" id="{DE9C33E4-89FC-CF07-E9FE-358F5A97AAA2}"/>
              </a:ext>
            </a:extLst>
          </p:cNvPr>
          <p:cNvPicPr>
            <a:picLocks noChangeAspect="1"/>
          </p:cNvPicPr>
          <p:nvPr/>
        </p:nvPicPr>
        <p:blipFill>
          <a:blip r:embed="rId3"/>
          <a:stretch>
            <a:fillRect/>
          </a:stretch>
        </p:blipFill>
        <p:spPr>
          <a:xfrm>
            <a:off x="4523065" y="2930780"/>
            <a:ext cx="7665399" cy="1612989"/>
          </a:xfrm>
          <a:prstGeom prst="rect">
            <a:avLst/>
          </a:prstGeom>
        </p:spPr>
      </p:pic>
    </p:spTree>
    <p:extLst>
      <p:ext uri="{BB962C8B-B14F-4D97-AF65-F5344CB8AC3E}">
        <p14:creationId xmlns:p14="http://schemas.microsoft.com/office/powerpoint/2010/main" val="4243363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5"/>
            <a:ext cx="10975800" cy="1434446"/>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Now, we can link the </a:t>
            </a:r>
            <a:r>
              <a:rPr lang="en-US" dirty="0" err="1"/>
              <a:t>ChA_ChB_Connection_Input</a:t>
            </a:r>
            <a:r>
              <a:rPr lang="en-US" dirty="0"/>
              <a:t> for the second drive.</a:t>
            </a:r>
          </a:p>
          <a:p>
            <a:pPr marL="695700" lvl="1" indent="-342900">
              <a:buFont typeface="Arial" panose="020B0604020202020204" pitchFamily="34" charset="0"/>
              <a:buChar char="•"/>
            </a:pPr>
            <a:r>
              <a:rPr lang="en-US" dirty="0"/>
              <a:t>SAFEMOTION </a:t>
            </a:r>
            <a:r>
              <a:rPr lang="en-US" dirty="0" err="1"/>
              <a:t>FSoE</a:t>
            </a:r>
            <a:r>
              <a:rPr lang="en-US" dirty="0"/>
              <a:t> Connection </a:t>
            </a:r>
            <a:r>
              <a:rPr lang="en-US" b="1" dirty="0"/>
              <a:t>Input</a:t>
            </a:r>
          </a:p>
          <a:p>
            <a:pPr marL="695700" lvl="1" indent="-342900">
              <a:buFont typeface="Arial" panose="020B0604020202020204" pitchFamily="34" charset="0"/>
              <a:buChar char="•"/>
            </a:pPr>
            <a:r>
              <a:rPr lang="en-US" dirty="0"/>
              <a:t>Uncheck the box for Excluding Same Image (if no links show up in dialog).</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7" name="Picture 6">
            <a:extLst>
              <a:ext uri="{FF2B5EF4-FFF2-40B4-BE49-F238E27FC236}">
                <a16:creationId xmlns:a16="http://schemas.microsoft.com/office/drawing/2014/main" id="{F8EC3736-4EA9-D954-FE9A-8428E1EC101E}"/>
              </a:ext>
            </a:extLst>
          </p:cNvPr>
          <p:cNvPicPr>
            <a:picLocks noChangeAspect="1"/>
          </p:cNvPicPr>
          <p:nvPr/>
        </p:nvPicPr>
        <p:blipFill>
          <a:blip r:embed="rId2"/>
          <a:stretch>
            <a:fillRect/>
          </a:stretch>
        </p:blipFill>
        <p:spPr>
          <a:xfrm>
            <a:off x="2590800" y="2406656"/>
            <a:ext cx="6886575" cy="4443654"/>
          </a:xfrm>
          <a:prstGeom prst="rect">
            <a:avLst/>
          </a:prstGeom>
        </p:spPr>
      </p:pic>
      <p:sp>
        <p:nvSpPr>
          <p:cNvPr id="6" name="Rectangle 5">
            <a:extLst>
              <a:ext uri="{FF2B5EF4-FFF2-40B4-BE49-F238E27FC236}">
                <a16:creationId xmlns:a16="http://schemas.microsoft.com/office/drawing/2014/main" id="{E69B5395-37C8-A0E4-4F7D-D2CDDF8203C3}"/>
              </a:ext>
            </a:extLst>
          </p:cNvPr>
          <p:cNvSpPr/>
          <p:nvPr/>
        </p:nvSpPr>
        <p:spPr>
          <a:xfrm>
            <a:off x="3276600" y="3800987"/>
            <a:ext cx="304800" cy="313813"/>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8" name="Straight Arrow Connector 7">
            <a:extLst>
              <a:ext uri="{FF2B5EF4-FFF2-40B4-BE49-F238E27FC236}">
                <a16:creationId xmlns:a16="http://schemas.microsoft.com/office/drawing/2014/main" id="{7925B693-889C-AB2B-3714-E4E3892CCF98}"/>
              </a:ext>
            </a:extLst>
          </p:cNvPr>
          <p:cNvCxnSpPr>
            <a:cxnSpLocks/>
          </p:cNvCxnSpPr>
          <p:nvPr/>
        </p:nvCxnSpPr>
        <p:spPr>
          <a:xfrm>
            <a:off x="3581400" y="4132868"/>
            <a:ext cx="1219200" cy="1201132"/>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CB2DEA5-5ED5-0142-6653-1C6BE283D8EC}"/>
              </a:ext>
            </a:extLst>
          </p:cNvPr>
          <p:cNvSpPr/>
          <p:nvPr/>
        </p:nvSpPr>
        <p:spPr>
          <a:xfrm>
            <a:off x="8001000" y="4419600"/>
            <a:ext cx="1219200" cy="81862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4" name="Rectangle 13">
            <a:extLst>
              <a:ext uri="{FF2B5EF4-FFF2-40B4-BE49-F238E27FC236}">
                <a16:creationId xmlns:a16="http://schemas.microsoft.com/office/drawing/2014/main" id="{CF807152-EA80-9B88-7114-D0F7D23645B1}"/>
              </a:ext>
            </a:extLst>
          </p:cNvPr>
          <p:cNvSpPr/>
          <p:nvPr/>
        </p:nvSpPr>
        <p:spPr>
          <a:xfrm>
            <a:off x="3301069" y="3388803"/>
            <a:ext cx="381000" cy="152400"/>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7734818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Result should look like the image below.</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E9065A68-0004-440F-3F2C-C4E8600A799A}"/>
              </a:ext>
            </a:extLst>
          </p:cNvPr>
          <p:cNvPicPr>
            <a:picLocks noChangeAspect="1"/>
          </p:cNvPicPr>
          <p:nvPr/>
        </p:nvPicPr>
        <p:blipFill>
          <a:blip r:embed="rId2"/>
          <a:stretch>
            <a:fillRect/>
          </a:stretch>
        </p:blipFill>
        <p:spPr>
          <a:xfrm>
            <a:off x="304800" y="1678062"/>
            <a:ext cx="11115675" cy="2190750"/>
          </a:xfrm>
          <a:prstGeom prst="rect">
            <a:avLst/>
          </a:prstGeom>
        </p:spPr>
      </p:pic>
      <p:sp>
        <p:nvSpPr>
          <p:cNvPr id="6" name="Rectangle 5">
            <a:extLst>
              <a:ext uri="{FF2B5EF4-FFF2-40B4-BE49-F238E27FC236}">
                <a16:creationId xmlns:a16="http://schemas.microsoft.com/office/drawing/2014/main" id="{8678F21C-265A-85E6-C70E-1BFD055F6C4E}"/>
              </a:ext>
            </a:extLst>
          </p:cNvPr>
          <p:cNvSpPr/>
          <p:nvPr/>
        </p:nvSpPr>
        <p:spPr>
          <a:xfrm>
            <a:off x="1260446" y="2924961"/>
            <a:ext cx="533400" cy="218814"/>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1221322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Now, we can link the </a:t>
            </a:r>
            <a:r>
              <a:rPr lang="en-US" dirty="0" err="1"/>
              <a:t>ChA_ChB_Connection_Input</a:t>
            </a:r>
            <a:r>
              <a:rPr lang="en-US" dirty="0"/>
              <a:t> for the second drive.</a:t>
            </a:r>
          </a:p>
          <a:p>
            <a:pPr marL="695700" lvl="1" indent="-342900">
              <a:buFont typeface="Arial" panose="020B0604020202020204" pitchFamily="34" charset="0"/>
              <a:buChar char="•"/>
            </a:pPr>
            <a:r>
              <a:rPr lang="en-US" dirty="0"/>
              <a:t>SAFEMOTION </a:t>
            </a:r>
            <a:r>
              <a:rPr lang="en-US" dirty="0" err="1"/>
              <a:t>FSoE</a:t>
            </a:r>
            <a:r>
              <a:rPr lang="en-US" dirty="0"/>
              <a:t> Connection </a:t>
            </a:r>
            <a:r>
              <a:rPr lang="en-US" b="1" dirty="0"/>
              <a:t>Output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6" name="Picture 5">
            <a:extLst>
              <a:ext uri="{FF2B5EF4-FFF2-40B4-BE49-F238E27FC236}">
                <a16:creationId xmlns:a16="http://schemas.microsoft.com/office/drawing/2014/main" id="{761BC3B4-E2F6-C530-FFA5-B756B6C9EB4D}"/>
              </a:ext>
            </a:extLst>
          </p:cNvPr>
          <p:cNvPicPr>
            <a:picLocks noChangeAspect="1"/>
          </p:cNvPicPr>
          <p:nvPr/>
        </p:nvPicPr>
        <p:blipFill>
          <a:blip r:embed="rId2"/>
          <a:stretch>
            <a:fillRect/>
          </a:stretch>
        </p:blipFill>
        <p:spPr>
          <a:xfrm>
            <a:off x="1516856" y="2667815"/>
            <a:ext cx="9158287" cy="4181796"/>
          </a:xfrm>
          <a:prstGeom prst="rect">
            <a:avLst/>
          </a:prstGeom>
        </p:spPr>
      </p:pic>
      <p:sp>
        <p:nvSpPr>
          <p:cNvPr id="7" name="Rectangle 6">
            <a:extLst>
              <a:ext uri="{FF2B5EF4-FFF2-40B4-BE49-F238E27FC236}">
                <a16:creationId xmlns:a16="http://schemas.microsoft.com/office/drawing/2014/main" id="{D9DD512D-1543-7D36-4217-8372FC329188}"/>
              </a:ext>
            </a:extLst>
          </p:cNvPr>
          <p:cNvSpPr/>
          <p:nvPr/>
        </p:nvSpPr>
        <p:spPr>
          <a:xfrm>
            <a:off x="2514600" y="4115574"/>
            <a:ext cx="304800" cy="313813"/>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8" name="Straight Arrow Connector 7">
            <a:extLst>
              <a:ext uri="{FF2B5EF4-FFF2-40B4-BE49-F238E27FC236}">
                <a16:creationId xmlns:a16="http://schemas.microsoft.com/office/drawing/2014/main" id="{4FCE21B6-F319-4252-303A-6A5D5718107D}"/>
              </a:ext>
            </a:extLst>
          </p:cNvPr>
          <p:cNvCxnSpPr>
            <a:cxnSpLocks/>
          </p:cNvCxnSpPr>
          <p:nvPr/>
        </p:nvCxnSpPr>
        <p:spPr>
          <a:xfrm>
            <a:off x="2819400" y="4405450"/>
            <a:ext cx="1066800" cy="1372396"/>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7242642-7BC3-035C-9131-5F93E35E4465}"/>
              </a:ext>
            </a:extLst>
          </p:cNvPr>
          <p:cNvSpPr/>
          <p:nvPr/>
        </p:nvSpPr>
        <p:spPr>
          <a:xfrm>
            <a:off x="2590800" y="3696859"/>
            <a:ext cx="457200" cy="189342"/>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035026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Result should look like the image below.</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6" name="Picture 5">
            <a:extLst>
              <a:ext uri="{FF2B5EF4-FFF2-40B4-BE49-F238E27FC236}">
                <a16:creationId xmlns:a16="http://schemas.microsoft.com/office/drawing/2014/main" id="{1C0C8CB9-8B16-4AA1-20CB-C0DDC16AE075}"/>
              </a:ext>
            </a:extLst>
          </p:cNvPr>
          <p:cNvPicPr>
            <a:picLocks noChangeAspect="1"/>
          </p:cNvPicPr>
          <p:nvPr/>
        </p:nvPicPr>
        <p:blipFill>
          <a:blip r:embed="rId2"/>
          <a:stretch>
            <a:fillRect/>
          </a:stretch>
        </p:blipFill>
        <p:spPr>
          <a:xfrm>
            <a:off x="738187" y="1981200"/>
            <a:ext cx="10715625" cy="2362200"/>
          </a:xfrm>
          <a:prstGeom prst="rect">
            <a:avLst/>
          </a:prstGeom>
        </p:spPr>
      </p:pic>
      <p:sp>
        <p:nvSpPr>
          <p:cNvPr id="8" name="Rectangle 7">
            <a:extLst>
              <a:ext uri="{FF2B5EF4-FFF2-40B4-BE49-F238E27FC236}">
                <a16:creationId xmlns:a16="http://schemas.microsoft.com/office/drawing/2014/main" id="{36410D29-68F6-503F-846D-AF3BF6174E42}"/>
              </a:ext>
            </a:extLst>
          </p:cNvPr>
          <p:cNvSpPr/>
          <p:nvPr/>
        </p:nvSpPr>
        <p:spPr>
          <a:xfrm>
            <a:off x="1524000" y="3229013"/>
            <a:ext cx="533400" cy="189342"/>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480042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Scroll to the right and you should see the RUN/ERR_ACK links.</a:t>
            </a:r>
          </a:p>
          <a:p>
            <a:pPr marL="695700" lvl="1" indent="-342900">
              <a:buFont typeface="Arial" panose="020B0604020202020204" pitchFamily="34" charset="0"/>
              <a:buChar char="•"/>
            </a:pPr>
            <a:r>
              <a:rPr lang="en-US" dirty="0"/>
              <a:t>Should resemble the image below. If you do not see a link already for the first drive, hit the Refresh view button.</a:t>
            </a:r>
          </a:p>
          <a:p>
            <a:pPr marL="1055700" lvl="2" indent="-342900">
              <a:buFont typeface="Arial" panose="020B0604020202020204" pitchFamily="34" charset="0"/>
              <a:buChar char="•"/>
            </a:pPr>
            <a:r>
              <a:rPr lang="en-US" dirty="0"/>
              <a:t>If they still do not show up for the first drive, double check your Alias linking for the RUN/ERR_ACK in the AX8000 project and try hitting the Refresh button again.</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48B24A28-E071-4C54-D3A0-D0EA895E999B}"/>
              </a:ext>
            </a:extLst>
          </p:cNvPr>
          <p:cNvPicPr>
            <a:picLocks noChangeAspect="1"/>
          </p:cNvPicPr>
          <p:nvPr/>
        </p:nvPicPr>
        <p:blipFill>
          <a:blip r:embed="rId2"/>
          <a:stretch>
            <a:fillRect/>
          </a:stretch>
        </p:blipFill>
        <p:spPr>
          <a:xfrm>
            <a:off x="228600" y="3621934"/>
            <a:ext cx="11430000" cy="1580813"/>
          </a:xfrm>
          <a:prstGeom prst="rect">
            <a:avLst/>
          </a:prstGeom>
        </p:spPr>
      </p:pic>
      <p:sp>
        <p:nvSpPr>
          <p:cNvPr id="7" name="Rectangle 6">
            <a:extLst>
              <a:ext uri="{FF2B5EF4-FFF2-40B4-BE49-F238E27FC236}">
                <a16:creationId xmlns:a16="http://schemas.microsoft.com/office/drawing/2014/main" id="{E30561D7-65A0-F49B-9BE3-8EA7298CA6FA}"/>
              </a:ext>
            </a:extLst>
          </p:cNvPr>
          <p:cNvSpPr/>
          <p:nvPr/>
        </p:nvSpPr>
        <p:spPr>
          <a:xfrm>
            <a:off x="5027700" y="3801761"/>
            <a:ext cx="304800" cy="313813"/>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9" name="Rectangle 8">
            <a:extLst>
              <a:ext uri="{FF2B5EF4-FFF2-40B4-BE49-F238E27FC236}">
                <a16:creationId xmlns:a16="http://schemas.microsoft.com/office/drawing/2014/main" id="{ADFB4A91-51D5-E57B-94B6-F3F094645C6D}"/>
              </a:ext>
            </a:extLst>
          </p:cNvPr>
          <p:cNvSpPr/>
          <p:nvPr/>
        </p:nvSpPr>
        <p:spPr>
          <a:xfrm>
            <a:off x="3485626" y="4648200"/>
            <a:ext cx="8096774" cy="189342"/>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716515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Link the RUN and ERR_ACK to our PLC variables.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8" name="Picture 7">
            <a:extLst>
              <a:ext uri="{FF2B5EF4-FFF2-40B4-BE49-F238E27FC236}">
                <a16:creationId xmlns:a16="http://schemas.microsoft.com/office/drawing/2014/main" id="{BEB0934D-8110-F113-BDA0-1EF3AC891751}"/>
              </a:ext>
            </a:extLst>
          </p:cNvPr>
          <p:cNvPicPr>
            <a:picLocks noChangeAspect="1"/>
          </p:cNvPicPr>
          <p:nvPr/>
        </p:nvPicPr>
        <p:blipFill>
          <a:blip r:embed="rId2"/>
          <a:stretch>
            <a:fillRect/>
          </a:stretch>
        </p:blipFill>
        <p:spPr>
          <a:xfrm>
            <a:off x="593140" y="1661974"/>
            <a:ext cx="5092565" cy="3657600"/>
          </a:xfrm>
          <a:prstGeom prst="rect">
            <a:avLst/>
          </a:prstGeom>
        </p:spPr>
      </p:pic>
      <p:pic>
        <p:nvPicPr>
          <p:cNvPr id="11" name="Picture 10">
            <a:extLst>
              <a:ext uri="{FF2B5EF4-FFF2-40B4-BE49-F238E27FC236}">
                <a16:creationId xmlns:a16="http://schemas.microsoft.com/office/drawing/2014/main" id="{8D036255-E1D7-DFD5-616D-C1B8526E9817}"/>
              </a:ext>
            </a:extLst>
          </p:cNvPr>
          <p:cNvPicPr>
            <a:picLocks noChangeAspect="1"/>
          </p:cNvPicPr>
          <p:nvPr/>
        </p:nvPicPr>
        <p:blipFill>
          <a:blip r:embed="rId3"/>
          <a:stretch>
            <a:fillRect/>
          </a:stretch>
        </p:blipFill>
        <p:spPr>
          <a:xfrm>
            <a:off x="5919831" y="1763588"/>
            <a:ext cx="5242354" cy="3330823"/>
          </a:xfrm>
          <a:prstGeom prst="rect">
            <a:avLst/>
          </a:prstGeom>
        </p:spPr>
      </p:pic>
      <p:sp>
        <p:nvSpPr>
          <p:cNvPr id="12" name="Rectangle 11">
            <a:extLst>
              <a:ext uri="{FF2B5EF4-FFF2-40B4-BE49-F238E27FC236}">
                <a16:creationId xmlns:a16="http://schemas.microsoft.com/office/drawing/2014/main" id="{C1C56772-75AE-9428-1769-47B6D29679E9}"/>
              </a:ext>
            </a:extLst>
          </p:cNvPr>
          <p:cNvSpPr/>
          <p:nvPr/>
        </p:nvSpPr>
        <p:spPr>
          <a:xfrm>
            <a:off x="1016532" y="3129719"/>
            <a:ext cx="278868" cy="265541"/>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3" name="Rectangle 12">
            <a:extLst>
              <a:ext uri="{FF2B5EF4-FFF2-40B4-BE49-F238E27FC236}">
                <a16:creationId xmlns:a16="http://schemas.microsoft.com/office/drawing/2014/main" id="{7C305E1A-8B1C-7B34-9E1E-73716B2F6F01}"/>
              </a:ext>
            </a:extLst>
          </p:cNvPr>
          <p:cNvSpPr/>
          <p:nvPr/>
        </p:nvSpPr>
        <p:spPr>
          <a:xfrm>
            <a:off x="5919831" y="2827998"/>
            <a:ext cx="304800" cy="316411"/>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cxnSp>
        <p:nvCxnSpPr>
          <p:cNvPr id="14" name="Straight Arrow Connector 13">
            <a:extLst>
              <a:ext uri="{FF2B5EF4-FFF2-40B4-BE49-F238E27FC236}">
                <a16:creationId xmlns:a16="http://schemas.microsoft.com/office/drawing/2014/main" id="{EAA9B819-83E5-F44F-80F6-57D9218DFD04}"/>
              </a:ext>
            </a:extLst>
          </p:cNvPr>
          <p:cNvCxnSpPr>
            <a:cxnSpLocks/>
          </p:cNvCxnSpPr>
          <p:nvPr/>
        </p:nvCxnSpPr>
        <p:spPr>
          <a:xfrm>
            <a:off x="1042398" y="3394561"/>
            <a:ext cx="786402" cy="1605433"/>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830B5B4-BE7A-8789-0025-2558CED0B1E5}"/>
              </a:ext>
            </a:extLst>
          </p:cNvPr>
          <p:cNvCxnSpPr>
            <a:cxnSpLocks/>
          </p:cNvCxnSpPr>
          <p:nvPr/>
        </p:nvCxnSpPr>
        <p:spPr>
          <a:xfrm>
            <a:off x="6059107" y="3145798"/>
            <a:ext cx="672834" cy="1447802"/>
          </a:xfrm>
          <a:prstGeom prst="straightConnector1">
            <a:avLst/>
          </a:prstGeom>
          <a:ln w="5715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8CC317AA-8DCD-1B04-5378-AE8B19B09A89}"/>
              </a:ext>
            </a:extLst>
          </p:cNvPr>
          <p:cNvPicPr>
            <a:picLocks noChangeAspect="1"/>
          </p:cNvPicPr>
          <p:nvPr/>
        </p:nvPicPr>
        <p:blipFill>
          <a:blip r:embed="rId4"/>
          <a:stretch>
            <a:fillRect/>
          </a:stretch>
        </p:blipFill>
        <p:spPr>
          <a:xfrm>
            <a:off x="1332000" y="5387915"/>
            <a:ext cx="8001000" cy="1419633"/>
          </a:xfrm>
          <a:prstGeom prst="rect">
            <a:avLst/>
          </a:prstGeom>
          <a:effectLst>
            <a:glow rad="63500">
              <a:schemeClr val="accent4">
                <a:satMod val="175000"/>
                <a:alpha val="40000"/>
              </a:schemeClr>
            </a:glow>
          </a:effectLst>
        </p:spPr>
      </p:pic>
    </p:spTree>
    <p:extLst>
      <p:ext uri="{BB962C8B-B14F-4D97-AF65-F5344CB8AC3E}">
        <p14:creationId xmlns:p14="http://schemas.microsoft.com/office/powerpoint/2010/main" val="387349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Scroll to the right.</a:t>
            </a:r>
          </a:p>
          <a:p>
            <a:pPr marL="695700" lvl="1" indent="-342900">
              <a:buFont typeface="Arial" panose="020B0604020202020204" pitchFamily="34" charset="0"/>
              <a:buChar char="•"/>
            </a:pPr>
            <a:r>
              <a:rPr lang="en-US" dirty="0"/>
              <a:t>Input the SLS limit values for the second drive.</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D1E1E359-F56D-251E-83C4-93E9E2B4F3FD}"/>
              </a:ext>
            </a:extLst>
          </p:cNvPr>
          <p:cNvPicPr>
            <a:picLocks noChangeAspect="1"/>
          </p:cNvPicPr>
          <p:nvPr/>
        </p:nvPicPr>
        <p:blipFill>
          <a:blip r:embed="rId2"/>
          <a:stretch>
            <a:fillRect/>
          </a:stretch>
        </p:blipFill>
        <p:spPr>
          <a:xfrm>
            <a:off x="604837" y="2057400"/>
            <a:ext cx="9072563" cy="1857003"/>
          </a:xfrm>
          <a:prstGeom prst="rect">
            <a:avLst/>
          </a:prstGeom>
        </p:spPr>
      </p:pic>
      <p:sp>
        <p:nvSpPr>
          <p:cNvPr id="10" name="Rectangle 9">
            <a:extLst>
              <a:ext uri="{FF2B5EF4-FFF2-40B4-BE49-F238E27FC236}">
                <a16:creationId xmlns:a16="http://schemas.microsoft.com/office/drawing/2014/main" id="{A16DB283-9ECF-C002-B76A-CD3B29FA474B}"/>
              </a:ext>
            </a:extLst>
          </p:cNvPr>
          <p:cNvSpPr/>
          <p:nvPr/>
        </p:nvSpPr>
        <p:spPr>
          <a:xfrm>
            <a:off x="4343400" y="2514600"/>
            <a:ext cx="1828800" cy="1295400"/>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1" name="Rectangle 10">
            <a:extLst>
              <a:ext uri="{FF2B5EF4-FFF2-40B4-BE49-F238E27FC236}">
                <a16:creationId xmlns:a16="http://schemas.microsoft.com/office/drawing/2014/main" id="{B7059396-3A95-153E-2CCF-B419C793D5F9}"/>
              </a:ext>
            </a:extLst>
          </p:cNvPr>
          <p:cNvSpPr/>
          <p:nvPr/>
        </p:nvSpPr>
        <p:spPr>
          <a:xfrm>
            <a:off x="7772400" y="2514600"/>
            <a:ext cx="1828800" cy="1295400"/>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6" name="Picture 5">
            <a:extLst>
              <a:ext uri="{FF2B5EF4-FFF2-40B4-BE49-F238E27FC236}">
                <a16:creationId xmlns:a16="http://schemas.microsoft.com/office/drawing/2014/main" id="{70219F52-2539-FC6B-4E98-AA5E55B87951}"/>
              </a:ext>
            </a:extLst>
          </p:cNvPr>
          <p:cNvPicPr>
            <a:picLocks noChangeAspect="1"/>
          </p:cNvPicPr>
          <p:nvPr/>
        </p:nvPicPr>
        <p:blipFill>
          <a:blip r:embed="rId3"/>
          <a:stretch>
            <a:fillRect/>
          </a:stretch>
        </p:blipFill>
        <p:spPr>
          <a:xfrm>
            <a:off x="629418" y="4281504"/>
            <a:ext cx="9867614" cy="2067297"/>
          </a:xfrm>
          <a:prstGeom prst="rect">
            <a:avLst/>
          </a:prstGeom>
          <a:effectLst>
            <a:glow rad="101600">
              <a:schemeClr val="accent4">
                <a:satMod val="175000"/>
                <a:alpha val="40000"/>
              </a:schemeClr>
            </a:glow>
          </a:effectLst>
        </p:spPr>
      </p:pic>
      <p:sp>
        <p:nvSpPr>
          <p:cNvPr id="12" name="Rectangle 11">
            <a:extLst>
              <a:ext uri="{FF2B5EF4-FFF2-40B4-BE49-F238E27FC236}">
                <a16:creationId xmlns:a16="http://schemas.microsoft.com/office/drawing/2014/main" id="{8AF174D5-40DA-4079-1FF1-9EA05DD4AE83}"/>
              </a:ext>
            </a:extLst>
          </p:cNvPr>
          <p:cNvSpPr/>
          <p:nvPr/>
        </p:nvSpPr>
        <p:spPr>
          <a:xfrm>
            <a:off x="4648825" y="5867400"/>
            <a:ext cx="1828800" cy="405997"/>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3" name="Rectangle 12">
            <a:extLst>
              <a:ext uri="{FF2B5EF4-FFF2-40B4-BE49-F238E27FC236}">
                <a16:creationId xmlns:a16="http://schemas.microsoft.com/office/drawing/2014/main" id="{A0D964B6-E846-384A-12D0-0F00A72A08C4}"/>
              </a:ext>
            </a:extLst>
          </p:cNvPr>
          <p:cNvSpPr/>
          <p:nvPr/>
        </p:nvSpPr>
        <p:spPr>
          <a:xfrm>
            <a:off x="8308799" y="5867399"/>
            <a:ext cx="1749601" cy="405997"/>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7" name="Picture 6">
            <a:extLst>
              <a:ext uri="{FF2B5EF4-FFF2-40B4-BE49-F238E27FC236}">
                <a16:creationId xmlns:a16="http://schemas.microsoft.com/office/drawing/2014/main" id="{DA2C617C-242D-FE72-3175-2CC5F3B312D7}"/>
              </a:ext>
            </a:extLst>
          </p:cNvPr>
          <p:cNvPicPr>
            <a:picLocks noChangeAspect="1"/>
          </p:cNvPicPr>
          <p:nvPr/>
        </p:nvPicPr>
        <p:blipFill>
          <a:blip r:embed="rId4"/>
          <a:stretch>
            <a:fillRect/>
          </a:stretch>
        </p:blipFill>
        <p:spPr>
          <a:xfrm>
            <a:off x="8534400" y="5915017"/>
            <a:ext cx="444227" cy="257184"/>
          </a:xfrm>
          <a:prstGeom prst="rect">
            <a:avLst/>
          </a:prstGeom>
        </p:spPr>
      </p:pic>
    </p:spTree>
    <p:extLst>
      <p:ext uri="{BB962C8B-B14F-4D97-AF65-F5344CB8AC3E}">
        <p14:creationId xmlns:p14="http://schemas.microsoft.com/office/powerpoint/2010/main" val="763765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Placing a different value for Drive 10’s ChA_SLS_1 Min/Max.</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7" name="Picture 6">
            <a:extLst>
              <a:ext uri="{FF2B5EF4-FFF2-40B4-BE49-F238E27FC236}">
                <a16:creationId xmlns:a16="http://schemas.microsoft.com/office/drawing/2014/main" id="{23F406F6-9AD8-A403-16BC-AB5B388B6BFC}"/>
              </a:ext>
            </a:extLst>
          </p:cNvPr>
          <p:cNvPicPr>
            <a:picLocks noChangeAspect="1"/>
          </p:cNvPicPr>
          <p:nvPr/>
        </p:nvPicPr>
        <p:blipFill>
          <a:blip r:embed="rId2"/>
          <a:stretch>
            <a:fillRect/>
          </a:stretch>
        </p:blipFill>
        <p:spPr>
          <a:xfrm>
            <a:off x="533400" y="2142676"/>
            <a:ext cx="4402394" cy="2252124"/>
          </a:xfrm>
          <a:prstGeom prst="rect">
            <a:avLst/>
          </a:prstGeom>
        </p:spPr>
      </p:pic>
      <p:sp>
        <p:nvSpPr>
          <p:cNvPr id="12" name="Rectangle 11">
            <a:extLst>
              <a:ext uri="{FF2B5EF4-FFF2-40B4-BE49-F238E27FC236}">
                <a16:creationId xmlns:a16="http://schemas.microsoft.com/office/drawing/2014/main" id="{8AF174D5-40DA-4079-1FF1-9EA05DD4AE83}"/>
              </a:ext>
            </a:extLst>
          </p:cNvPr>
          <p:cNvSpPr/>
          <p:nvPr/>
        </p:nvSpPr>
        <p:spPr>
          <a:xfrm>
            <a:off x="2614231" y="3844723"/>
            <a:ext cx="1828800" cy="405997"/>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9" name="Picture 8">
            <a:extLst>
              <a:ext uri="{FF2B5EF4-FFF2-40B4-BE49-F238E27FC236}">
                <a16:creationId xmlns:a16="http://schemas.microsoft.com/office/drawing/2014/main" id="{DEB0F420-DD1B-8945-6386-C467E8292387}"/>
              </a:ext>
            </a:extLst>
          </p:cNvPr>
          <p:cNvPicPr>
            <a:picLocks noChangeAspect="1"/>
          </p:cNvPicPr>
          <p:nvPr/>
        </p:nvPicPr>
        <p:blipFill>
          <a:blip r:embed="rId3"/>
          <a:stretch>
            <a:fillRect/>
          </a:stretch>
        </p:blipFill>
        <p:spPr>
          <a:xfrm>
            <a:off x="4267200" y="4376559"/>
            <a:ext cx="7924800" cy="2481441"/>
          </a:xfrm>
          <a:prstGeom prst="rect">
            <a:avLst/>
          </a:prstGeom>
        </p:spPr>
      </p:pic>
      <p:sp>
        <p:nvSpPr>
          <p:cNvPr id="14" name="Rectangle 13">
            <a:extLst>
              <a:ext uri="{FF2B5EF4-FFF2-40B4-BE49-F238E27FC236}">
                <a16:creationId xmlns:a16="http://schemas.microsoft.com/office/drawing/2014/main" id="{069A9768-D69E-33F4-27CD-BCDEACEC272F}"/>
              </a:ext>
            </a:extLst>
          </p:cNvPr>
          <p:cNvSpPr/>
          <p:nvPr/>
        </p:nvSpPr>
        <p:spPr>
          <a:xfrm>
            <a:off x="4038600" y="5073078"/>
            <a:ext cx="5870399" cy="101241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9029506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Save-All</a:t>
            </a:r>
          </a:p>
          <a:p>
            <a:pPr marL="342900" indent="-342900">
              <a:buFont typeface="Arial" panose="020B0604020202020204" pitchFamily="34" charset="0"/>
              <a:buChar char="•"/>
            </a:pPr>
            <a:r>
              <a:rPr lang="en-US" dirty="0"/>
              <a:t>Multi-Download safety projects</a:t>
            </a:r>
          </a:p>
          <a:p>
            <a:pPr marL="342900" indent="-342900">
              <a:buFont typeface="Arial" panose="020B0604020202020204" pitchFamily="34" charset="0"/>
              <a:buChar char="•"/>
            </a:pPr>
            <a:r>
              <a:rPr lang="en-US" dirty="0"/>
              <a:t>Activate Configuration.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are ready to test.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Tree>
    <p:extLst>
      <p:ext uri="{BB962C8B-B14F-4D97-AF65-F5344CB8AC3E}">
        <p14:creationId xmlns:p14="http://schemas.microsoft.com/office/powerpoint/2010/main" val="2803090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Login to the PLC</a:t>
            </a:r>
          </a:p>
          <a:p>
            <a:pPr marL="342900" indent="-342900">
              <a:buFont typeface="Arial" panose="020B0604020202020204" pitchFamily="34" charset="0"/>
              <a:buChar char="•"/>
            </a:pPr>
            <a:r>
              <a:rPr lang="en-US" dirty="0"/>
              <a:t>Toggle PLC </a:t>
            </a:r>
            <a:r>
              <a:rPr lang="en-US" dirty="0" err="1"/>
              <a:t>xSafetyErrorAck</a:t>
            </a:r>
            <a:r>
              <a:rPr lang="en-US" dirty="0"/>
              <a:t> to True and back to False</a:t>
            </a:r>
          </a:p>
          <a:p>
            <a:pPr marL="342900" indent="-342900">
              <a:buFont typeface="Arial" panose="020B0604020202020204" pitchFamily="34" charset="0"/>
              <a:buChar char="•"/>
            </a:pPr>
            <a:r>
              <a:rPr lang="en-US" dirty="0"/>
              <a:t>Toggle PLC </a:t>
            </a:r>
            <a:r>
              <a:rPr lang="en-US" dirty="0" err="1"/>
              <a:t>xSafetySLS</a:t>
            </a:r>
            <a:r>
              <a:rPr lang="en-US" dirty="0"/>
              <a:t> to True</a:t>
            </a:r>
          </a:p>
          <a:p>
            <a:pPr marL="695700" lvl="1" indent="-342900">
              <a:buFont typeface="Arial" panose="020B0604020202020204" pitchFamily="34" charset="0"/>
              <a:buChar char="•"/>
            </a:pPr>
            <a:r>
              <a:rPr lang="en-US" dirty="0"/>
              <a:t>When </a:t>
            </a:r>
            <a:r>
              <a:rPr lang="en-US" dirty="0" err="1"/>
              <a:t>xSafetySLS</a:t>
            </a:r>
            <a:r>
              <a:rPr lang="en-US" dirty="0"/>
              <a:t> is true, we are bypassing the SLS functionality. So, it is NOT active. As you can see in the </a:t>
            </a:r>
            <a:r>
              <a:rPr lang="en-US" dirty="0" err="1"/>
              <a:t>ChA_SLS</a:t>
            </a:r>
            <a:r>
              <a:rPr lang="en-US" dirty="0"/>
              <a:t> and </a:t>
            </a:r>
            <a:r>
              <a:rPr lang="en-US" dirty="0" err="1"/>
              <a:t>ChB_SLS</a:t>
            </a:r>
            <a:r>
              <a:rPr lang="en-US" dirty="0"/>
              <a:t> files.</a:t>
            </a:r>
            <a:br>
              <a:rPr lang="en-US" dirty="0"/>
            </a:br>
            <a:r>
              <a:rPr lang="en-US" dirty="0"/>
              <a:t>Notice the </a:t>
            </a:r>
            <a:r>
              <a:rPr lang="en-US" dirty="0" err="1"/>
              <a:t>SafeOr</a:t>
            </a:r>
            <a:r>
              <a:rPr lang="en-US" dirty="0"/>
              <a:t> block needs either the PLC command or the </a:t>
            </a:r>
            <a:r>
              <a:rPr lang="en-US" dirty="0" err="1"/>
              <a:t>inLimit</a:t>
            </a:r>
            <a:r>
              <a:rPr lang="en-US" dirty="0"/>
              <a:t> bit.</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0731D2E6-C225-D030-1171-604F7E164D6F}"/>
              </a:ext>
            </a:extLst>
          </p:cNvPr>
          <p:cNvPicPr>
            <a:picLocks noChangeAspect="1"/>
          </p:cNvPicPr>
          <p:nvPr/>
        </p:nvPicPr>
        <p:blipFill>
          <a:blip r:embed="rId2"/>
          <a:stretch>
            <a:fillRect/>
          </a:stretch>
        </p:blipFill>
        <p:spPr>
          <a:xfrm>
            <a:off x="1673806" y="3962400"/>
            <a:ext cx="8458200" cy="2827205"/>
          </a:xfrm>
          <a:prstGeom prst="rect">
            <a:avLst/>
          </a:prstGeom>
        </p:spPr>
      </p:pic>
      <p:sp>
        <p:nvSpPr>
          <p:cNvPr id="3" name="Rectangle 2">
            <a:extLst>
              <a:ext uri="{FF2B5EF4-FFF2-40B4-BE49-F238E27FC236}">
                <a16:creationId xmlns:a16="http://schemas.microsoft.com/office/drawing/2014/main" id="{D59A4E5A-BE2D-DDBD-9C74-9C48E8C2D5DC}"/>
              </a:ext>
            </a:extLst>
          </p:cNvPr>
          <p:cNvSpPr/>
          <p:nvPr/>
        </p:nvSpPr>
        <p:spPr>
          <a:xfrm>
            <a:off x="6629401" y="5073079"/>
            <a:ext cx="1828800" cy="413322"/>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1169824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Navigate to ChA_SLS_1.sal</a:t>
            </a:r>
          </a:p>
          <a:p>
            <a:pPr marL="342900" indent="-342900">
              <a:buFont typeface="Arial" panose="020B0604020202020204" pitchFamily="34" charset="0"/>
              <a:buChar char="•"/>
            </a:pPr>
            <a:r>
              <a:rPr lang="en-US" dirty="0"/>
              <a:t>Login to see online values.</a:t>
            </a:r>
          </a:p>
          <a:p>
            <a:pPr marL="342900" indent="-342900">
              <a:buFont typeface="Arial" panose="020B0604020202020204" pitchFamily="34" charset="0"/>
              <a:buChar char="•"/>
            </a:pPr>
            <a:r>
              <a:rPr lang="en-US" dirty="0"/>
              <a:t>Notice we have Drive 11 selected.</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6" name="Picture 5">
            <a:extLst>
              <a:ext uri="{FF2B5EF4-FFF2-40B4-BE49-F238E27FC236}">
                <a16:creationId xmlns:a16="http://schemas.microsoft.com/office/drawing/2014/main" id="{D66DBE2B-5F6B-A597-0DBF-C1616D482F3B}"/>
              </a:ext>
            </a:extLst>
          </p:cNvPr>
          <p:cNvPicPr>
            <a:picLocks noChangeAspect="1"/>
          </p:cNvPicPr>
          <p:nvPr/>
        </p:nvPicPr>
        <p:blipFill>
          <a:blip r:embed="rId2"/>
          <a:stretch>
            <a:fillRect/>
          </a:stretch>
        </p:blipFill>
        <p:spPr>
          <a:xfrm>
            <a:off x="3810000" y="2568203"/>
            <a:ext cx="7924800" cy="4255766"/>
          </a:xfrm>
          <a:prstGeom prst="rect">
            <a:avLst/>
          </a:prstGeom>
        </p:spPr>
      </p:pic>
      <p:sp>
        <p:nvSpPr>
          <p:cNvPr id="7" name="Rectangle 6">
            <a:extLst>
              <a:ext uri="{FF2B5EF4-FFF2-40B4-BE49-F238E27FC236}">
                <a16:creationId xmlns:a16="http://schemas.microsoft.com/office/drawing/2014/main" id="{8C7AEB6E-15D7-D138-AE7C-2F8834197A6F}"/>
              </a:ext>
            </a:extLst>
          </p:cNvPr>
          <p:cNvSpPr/>
          <p:nvPr/>
        </p:nvSpPr>
        <p:spPr>
          <a:xfrm>
            <a:off x="9677400" y="5715001"/>
            <a:ext cx="914400" cy="7620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9" name="Picture 8">
            <a:extLst>
              <a:ext uri="{FF2B5EF4-FFF2-40B4-BE49-F238E27FC236}">
                <a16:creationId xmlns:a16="http://schemas.microsoft.com/office/drawing/2014/main" id="{4D970F7D-0C80-41D1-7F80-59DD5DBDD08E}"/>
              </a:ext>
            </a:extLst>
          </p:cNvPr>
          <p:cNvPicPr>
            <a:picLocks noChangeAspect="1"/>
          </p:cNvPicPr>
          <p:nvPr/>
        </p:nvPicPr>
        <p:blipFill>
          <a:blip r:embed="rId3"/>
          <a:stretch>
            <a:fillRect/>
          </a:stretch>
        </p:blipFill>
        <p:spPr>
          <a:xfrm>
            <a:off x="1686121" y="4862513"/>
            <a:ext cx="1914525" cy="1704975"/>
          </a:xfrm>
          <a:prstGeom prst="rect">
            <a:avLst/>
          </a:prstGeom>
        </p:spPr>
      </p:pic>
      <p:sp>
        <p:nvSpPr>
          <p:cNvPr id="10" name="Rectangle 9">
            <a:extLst>
              <a:ext uri="{FF2B5EF4-FFF2-40B4-BE49-F238E27FC236}">
                <a16:creationId xmlns:a16="http://schemas.microsoft.com/office/drawing/2014/main" id="{1F9C0366-4E65-C000-C369-FF0FCDAF00F2}"/>
              </a:ext>
            </a:extLst>
          </p:cNvPr>
          <p:cNvSpPr/>
          <p:nvPr/>
        </p:nvSpPr>
        <p:spPr>
          <a:xfrm>
            <a:off x="1766333" y="6015407"/>
            <a:ext cx="1754100" cy="27574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2" name="Picture 11">
            <a:extLst>
              <a:ext uri="{FF2B5EF4-FFF2-40B4-BE49-F238E27FC236}">
                <a16:creationId xmlns:a16="http://schemas.microsoft.com/office/drawing/2014/main" id="{22F553FF-38C6-B6FD-D529-1170BE5DFCBA}"/>
              </a:ext>
            </a:extLst>
          </p:cNvPr>
          <p:cNvPicPr>
            <a:picLocks noChangeAspect="1"/>
          </p:cNvPicPr>
          <p:nvPr/>
        </p:nvPicPr>
        <p:blipFill>
          <a:blip r:embed="rId4"/>
          <a:stretch>
            <a:fillRect/>
          </a:stretch>
        </p:blipFill>
        <p:spPr>
          <a:xfrm>
            <a:off x="51248" y="3248447"/>
            <a:ext cx="2195902" cy="1598549"/>
          </a:xfrm>
          <a:prstGeom prst="rect">
            <a:avLst/>
          </a:prstGeom>
        </p:spPr>
      </p:pic>
      <p:sp>
        <p:nvSpPr>
          <p:cNvPr id="13" name="Rectangle 12">
            <a:extLst>
              <a:ext uri="{FF2B5EF4-FFF2-40B4-BE49-F238E27FC236}">
                <a16:creationId xmlns:a16="http://schemas.microsoft.com/office/drawing/2014/main" id="{CE825389-BCBB-6FF2-14D9-CF7C37440299}"/>
              </a:ext>
            </a:extLst>
          </p:cNvPr>
          <p:cNvSpPr/>
          <p:nvPr/>
        </p:nvSpPr>
        <p:spPr>
          <a:xfrm>
            <a:off x="73200" y="4267200"/>
            <a:ext cx="2060400" cy="28865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4" name="Rectangle 13">
            <a:extLst>
              <a:ext uri="{FF2B5EF4-FFF2-40B4-BE49-F238E27FC236}">
                <a16:creationId xmlns:a16="http://schemas.microsoft.com/office/drawing/2014/main" id="{4384E1D8-E570-252A-4E18-462BF8EC7E79}"/>
              </a:ext>
            </a:extLst>
          </p:cNvPr>
          <p:cNvSpPr/>
          <p:nvPr/>
        </p:nvSpPr>
        <p:spPr>
          <a:xfrm>
            <a:off x="5182350" y="3295317"/>
            <a:ext cx="227850" cy="28865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42271069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Logout of online view for Safety.</a:t>
            </a:r>
          </a:p>
          <a:p>
            <a:pPr marL="342900" indent="-342900">
              <a:buFont typeface="Arial" panose="020B0604020202020204" pitchFamily="34" charset="0"/>
              <a:buChar char="•"/>
            </a:pPr>
            <a:r>
              <a:rPr lang="en-US" dirty="0"/>
              <a:t>You will notice a new safety toolbar dropdown is available.</a:t>
            </a:r>
          </a:p>
          <a:p>
            <a:pPr marL="695700" lvl="1" indent="-342900">
              <a:buFont typeface="Arial" panose="020B0604020202020204" pitchFamily="34" charset="0"/>
              <a:buChar char="•"/>
            </a:pPr>
            <a:r>
              <a:rPr lang="en-US" dirty="0"/>
              <a:t>Select Drive 10</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8" name="Picture 7">
            <a:extLst>
              <a:ext uri="{FF2B5EF4-FFF2-40B4-BE49-F238E27FC236}">
                <a16:creationId xmlns:a16="http://schemas.microsoft.com/office/drawing/2014/main" id="{44B9F010-5C55-B17B-2039-90C444DE9A3A}"/>
              </a:ext>
            </a:extLst>
          </p:cNvPr>
          <p:cNvPicPr>
            <a:picLocks noChangeAspect="1"/>
          </p:cNvPicPr>
          <p:nvPr/>
        </p:nvPicPr>
        <p:blipFill>
          <a:blip r:embed="rId2"/>
          <a:stretch>
            <a:fillRect/>
          </a:stretch>
        </p:blipFill>
        <p:spPr>
          <a:xfrm>
            <a:off x="914400" y="2667000"/>
            <a:ext cx="6784562" cy="2131595"/>
          </a:xfrm>
          <a:prstGeom prst="rect">
            <a:avLst/>
          </a:prstGeom>
        </p:spPr>
      </p:pic>
      <p:sp>
        <p:nvSpPr>
          <p:cNvPr id="10" name="Rectangle 9">
            <a:extLst>
              <a:ext uri="{FF2B5EF4-FFF2-40B4-BE49-F238E27FC236}">
                <a16:creationId xmlns:a16="http://schemas.microsoft.com/office/drawing/2014/main" id="{1F9C0366-4E65-C000-C369-FF0FCDAF00F2}"/>
              </a:ext>
            </a:extLst>
          </p:cNvPr>
          <p:cNvSpPr/>
          <p:nvPr/>
        </p:nvSpPr>
        <p:spPr>
          <a:xfrm>
            <a:off x="4876800" y="3886200"/>
            <a:ext cx="2743200" cy="7620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9937835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While still in the ChA_SLS_1.sal file</a:t>
            </a:r>
          </a:p>
          <a:p>
            <a:pPr marL="342900" indent="-342900">
              <a:buFont typeface="Arial" panose="020B0604020202020204" pitchFamily="34" charset="0"/>
              <a:buChar char="•"/>
            </a:pPr>
            <a:r>
              <a:rPr lang="en-US" dirty="0"/>
              <a:t>Login to see online values again.</a:t>
            </a:r>
          </a:p>
          <a:p>
            <a:pPr marL="342900" indent="-342900">
              <a:buFont typeface="Arial" panose="020B0604020202020204" pitchFamily="34" charset="0"/>
              <a:buChar char="•"/>
            </a:pPr>
            <a:r>
              <a:rPr lang="en-US" dirty="0"/>
              <a:t>Notice we now have Drive 10 selected and can see its specific online values.</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12" name="Picture 11">
            <a:extLst>
              <a:ext uri="{FF2B5EF4-FFF2-40B4-BE49-F238E27FC236}">
                <a16:creationId xmlns:a16="http://schemas.microsoft.com/office/drawing/2014/main" id="{22F553FF-38C6-B6FD-D529-1170BE5DFCBA}"/>
              </a:ext>
            </a:extLst>
          </p:cNvPr>
          <p:cNvPicPr>
            <a:picLocks noChangeAspect="1"/>
          </p:cNvPicPr>
          <p:nvPr/>
        </p:nvPicPr>
        <p:blipFill>
          <a:blip r:embed="rId2"/>
          <a:stretch>
            <a:fillRect/>
          </a:stretch>
        </p:blipFill>
        <p:spPr>
          <a:xfrm>
            <a:off x="41734" y="3041137"/>
            <a:ext cx="2195902" cy="1598549"/>
          </a:xfrm>
          <a:prstGeom prst="rect">
            <a:avLst/>
          </a:prstGeom>
        </p:spPr>
      </p:pic>
      <p:pic>
        <p:nvPicPr>
          <p:cNvPr id="4" name="Picture 3">
            <a:extLst>
              <a:ext uri="{FF2B5EF4-FFF2-40B4-BE49-F238E27FC236}">
                <a16:creationId xmlns:a16="http://schemas.microsoft.com/office/drawing/2014/main" id="{C8FE2132-9730-D0FB-5FF5-73B72B401114}"/>
              </a:ext>
            </a:extLst>
          </p:cNvPr>
          <p:cNvPicPr>
            <a:picLocks noChangeAspect="1"/>
          </p:cNvPicPr>
          <p:nvPr/>
        </p:nvPicPr>
        <p:blipFill>
          <a:blip r:embed="rId3"/>
          <a:stretch>
            <a:fillRect/>
          </a:stretch>
        </p:blipFill>
        <p:spPr>
          <a:xfrm>
            <a:off x="3895098" y="2682630"/>
            <a:ext cx="8296902" cy="4183508"/>
          </a:xfrm>
          <a:prstGeom prst="rect">
            <a:avLst/>
          </a:prstGeom>
        </p:spPr>
      </p:pic>
      <p:sp>
        <p:nvSpPr>
          <p:cNvPr id="7" name="Rectangle 6">
            <a:extLst>
              <a:ext uri="{FF2B5EF4-FFF2-40B4-BE49-F238E27FC236}">
                <a16:creationId xmlns:a16="http://schemas.microsoft.com/office/drawing/2014/main" id="{8C7AEB6E-15D7-D138-AE7C-2F8834197A6F}"/>
              </a:ext>
            </a:extLst>
          </p:cNvPr>
          <p:cNvSpPr/>
          <p:nvPr/>
        </p:nvSpPr>
        <p:spPr>
          <a:xfrm>
            <a:off x="10425667" y="5805488"/>
            <a:ext cx="914400" cy="7620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9" name="Picture 8">
            <a:extLst>
              <a:ext uri="{FF2B5EF4-FFF2-40B4-BE49-F238E27FC236}">
                <a16:creationId xmlns:a16="http://schemas.microsoft.com/office/drawing/2014/main" id="{4D970F7D-0C80-41D1-7F80-59DD5DBDD08E}"/>
              </a:ext>
            </a:extLst>
          </p:cNvPr>
          <p:cNvPicPr>
            <a:picLocks noChangeAspect="1"/>
          </p:cNvPicPr>
          <p:nvPr/>
        </p:nvPicPr>
        <p:blipFill>
          <a:blip r:embed="rId4"/>
          <a:stretch>
            <a:fillRect/>
          </a:stretch>
        </p:blipFill>
        <p:spPr>
          <a:xfrm>
            <a:off x="1766333" y="4632172"/>
            <a:ext cx="1914525" cy="1704975"/>
          </a:xfrm>
          <a:prstGeom prst="rect">
            <a:avLst/>
          </a:prstGeom>
        </p:spPr>
      </p:pic>
      <p:sp>
        <p:nvSpPr>
          <p:cNvPr id="10" name="Rectangle 9">
            <a:extLst>
              <a:ext uri="{FF2B5EF4-FFF2-40B4-BE49-F238E27FC236}">
                <a16:creationId xmlns:a16="http://schemas.microsoft.com/office/drawing/2014/main" id="{1F9C0366-4E65-C000-C369-FF0FCDAF00F2}"/>
              </a:ext>
            </a:extLst>
          </p:cNvPr>
          <p:cNvSpPr/>
          <p:nvPr/>
        </p:nvSpPr>
        <p:spPr>
          <a:xfrm>
            <a:off x="1766333" y="6015407"/>
            <a:ext cx="1754100" cy="27574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3" name="Rectangle 12">
            <a:extLst>
              <a:ext uri="{FF2B5EF4-FFF2-40B4-BE49-F238E27FC236}">
                <a16:creationId xmlns:a16="http://schemas.microsoft.com/office/drawing/2014/main" id="{CE825389-BCBB-6FF2-14D9-CF7C37440299}"/>
              </a:ext>
            </a:extLst>
          </p:cNvPr>
          <p:cNvSpPr/>
          <p:nvPr/>
        </p:nvSpPr>
        <p:spPr>
          <a:xfrm>
            <a:off x="73200" y="4267200"/>
            <a:ext cx="2060400" cy="288657"/>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2754847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Logout of online view.</a:t>
            </a:r>
          </a:p>
          <a:p>
            <a:pPr marL="342900" indent="-342900">
              <a:buFont typeface="Arial" panose="020B0604020202020204" pitchFamily="34" charset="0"/>
              <a:buChar char="•"/>
            </a:pPr>
            <a:r>
              <a:rPr lang="en-US" dirty="0"/>
              <a:t>Drive 10 is still selected in the dropdown.</a:t>
            </a:r>
          </a:p>
          <a:p>
            <a:pPr marL="695700" lvl="1" indent="-342900">
              <a:buFont typeface="Arial" panose="020B0604020202020204" pitchFamily="34" charset="0"/>
              <a:buChar char="•"/>
            </a:pPr>
            <a:r>
              <a:rPr lang="en-US" dirty="0"/>
              <a:t>But the values that are shown have switched back to Drive 11.</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6" name="Picture 5">
            <a:extLst>
              <a:ext uri="{FF2B5EF4-FFF2-40B4-BE49-F238E27FC236}">
                <a16:creationId xmlns:a16="http://schemas.microsoft.com/office/drawing/2014/main" id="{48417E1B-4AE6-B341-F3D8-D862516ED39C}"/>
              </a:ext>
            </a:extLst>
          </p:cNvPr>
          <p:cNvPicPr>
            <a:picLocks noChangeAspect="1"/>
          </p:cNvPicPr>
          <p:nvPr/>
        </p:nvPicPr>
        <p:blipFill>
          <a:blip r:embed="rId2"/>
          <a:stretch>
            <a:fillRect/>
          </a:stretch>
        </p:blipFill>
        <p:spPr>
          <a:xfrm>
            <a:off x="4495800" y="2888089"/>
            <a:ext cx="7611903" cy="3969911"/>
          </a:xfrm>
          <a:prstGeom prst="rect">
            <a:avLst/>
          </a:prstGeom>
        </p:spPr>
      </p:pic>
      <p:sp>
        <p:nvSpPr>
          <p:cNvPr id="7" name="Rectangle 6">
            <a:extLst>
              <a:ext uri="{FF2B5EF4-FFF2-40B4-BE49-F238E27FC236}">
                <a16:creationId xmlns:a16="http://schemas.microsoft.com/office/drawing/2014/main" id="{8C7AEB6E-15D7-D138-AE7C-2F8834197A6F}"/>
              </a:ext>
            </a:extLst>
          </p:cNvPr>
          <p:cNvSpPr/>
          <p:nvPr/>
        </p:nvSpPr>
        <p:spPr>
          <a:xfrm>
            <a:off x="10363200" y="5634407"/>
            <a:ext cx="914400" cy="7620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4529B790-83C1-BAEC-BCC1-2A38E8B5D889}"/>
              </a:ext>
            </a:extLst>
          </p:cNvPr>
          <p:cNvSpPr/>
          <p:nvPr/>
        </p:nvSpPr>
        <p:spPr>
          <a:xfrm>
            <a:off x="6705600" y="3581400"/>
            <a:ext cx="914400" cy="22860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8208080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72420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Notice we only have 1 Safety project for 2 drives.</a:t>
            </a:r>
          </a:p>
          <a:p>
            <a:pPr marL="342900" indent="-342900">
              <a:buFont typeface="Arial" panose="020B0604020202020204" pitchFamily="34" charset="0"/>
              <a:buChar char="•"/>
            </a:pPr>
            <a:r>
              <a:rPr lang="en-US" dirty="0"/>
              <a:t>Our Target System is Drive 11.</a:t>
            </a:r>
          </a:p>
          <a:p>
            <a:pPr marL="342900" indent="-342900">
              <a:buFont typeface="Arial" panose="020B0604020202020204" pitchFamily="34" charset="0"/>
              <a:buChar char="•"/>
            </a:pPr>
            <a:r>
              <a:rPr lang="en-US" dirty="0"/>
              <a:t>The project is for Drive 11.</a:t>
            </a:r>
          </a:p>
          <a:p>
            <a:pPr marL="342900" indent="-342900">
              <a:buFont typeface="Arial" panose="020B0604020202020204" pitchFamily="34" charset="0"/>
              <a:buChar char="•"/>
            </a:pPr>
            <a:r>
              <a:rPr lang="en-US" dirty="0"/>
              <a:t>Drive 10 becomes an instance of Drive 11.</a:t>
            </a:r>
          </a:p>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4" name="Picture 3">
            <a:extLst>
              <a:ext uri="{FF2B5EF4-FFF2-40B4-BE49-F238E27FC236}">
                <a16:creationId xmlns:a16="http://schemas.microsoft.com/office/drawing/2014/main" id="{6A6A2532-CEEE-0612-398C-E5B41B4562CD}"/>
              </a:ext>
            </a:extLst>
          </p:cNvPr>
          <p:cNvPicPr>
            <a:picLocks noChangeAspect="1"/>
          </p:cNvPicPr>
          <p:nvPr/>
        </p:nvPicPr>
        <p:blipFill>
          <a:blip r:embed="rId2"/>
          <a:stretch>
            <a:fillRect/>
          </a:stretch>
        </p:blipFill>
        <p:spPr>
          <a:xfrm>
            <a:off x="6400800" y="1837329"/>
            <a:ext cx="5767249" cy="2632707"/>
          </a:xfrm>
          <a:prstGeom prst="rect">
            <a:avLst/>
          </a:prstGeom>
        </p:spPr>
      </p:pic>
      <p:pic>
        <p:nvPicPr>
          <p:cNvPr id="12" name="Picture 11">
            <a:extLst>
              <a:ext uri="{FF2B5EF4-FFF2-40B4-BE49-F238E27FC236}">
                <a16:creationId xmlns:a16="http://schemas.microsoft.com/office/drawing/2014/main" id="{2FB2E191-10CE-5340-DA11-AC7844DBA60B}"/>
              </a:ext>
            </a:extLst>
          </p:cNvPr>
          <p:cNvPicPr>
            <a:picLocks noChangeAspect="1"/>
          </p:cNvPicPr>
          <p:nvPr/>
        </p:nvPicPr>
        <p:blipFill>
          <a:blip r:embed="rId3"/>
          <a:stretch>
            <a:fillRect/>
          </a:stretch>
        </p:blipFill>
        <p:spPr>
          <a:xfrm>
            <a:off x="4560849" y="4473736"/>
            <a:ext cx="7607200" cy="2346534"/>
          </a:xfrm>
          <a:prstGeom prst="rect">
            <a:avLst/>
          </a:prstGeom>
        </p:spPr>
      </p:pic>
    </p:spTree>
    <p:extLst>
      <p:ext uri="{BB962C8B-B14F-4D97-AF65-F5344CB8AC3E}">
        <p14:creationId xmlns:p14="http://schemas.microsoft.com/office/powerpoint/2010/main" val="23460652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72420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sp>
        <p:nvSpPr>
          <p:cNvPr id="6" name="TextBox 5">
            <a:extLst>
              <a:ext uri="{FF2B5EF4-FFF2-40B4-BE49-F238E27FC236}">
                <a16:creationId xmlns:a16="http://schemas.microsoft.com/office/drawing/2014/main" id="{6E036FD7-8D19-26BA-F88D-2E7FBF637FBC}"/>
              </a:ext>
            </a:extLst>
          </p:cNvPr>
          <p:cNvSpPr txBox="1"/>
          <p:nvPr/>
        </p:nvSpPr>
        <p:spPr>
          <a:xfrm>
            <a:off x="378391" y="1386355"/>
            <a:ext cx="6174418" cy="2862322"/>
          </a:xfrm>
          <a:prstGeom prst="rect">
            <a:avLst/>
          </a:prstGeom>
          <a:noFill/>
        </p:spPr>
        <p:txBody>
          <a:bodyPr wrap="square">
            <a:spAutoFit/>
          </a:bodyPr>
          <a:lstStyle/>
          <a:p>
            <a:pPr marL="342900" indent="-342900">
              <a:buFont typeface="Arial" panose="020B0604020202020204" pitchFamily="34" charset="0"/>
              <a:buChar char="•"/>
            </a:pPr>
            <a:r>
              <a:rPr lang="en-US" dirty="0"/>
              <a:t>Any changes in the project’s various .SAL files</a:t>
            </a:r>
            <a:br>
              <a:rPr lang="en-US" dirty="0"/>
            </a:br>
            <a:r>
              <a:rPr lang="en-US" dirty="0"/>
              <a:t>will only change Drive 11’s configuration.</a:t>
            </a:r>
            <a:br>
              <a:rPr lang="en-US" dirty="0"/>
            </a:br>
            <a:endParaRPr lang="en-US" dirty="0"/>
          </a:p>
          <a:p>
            <a:pPr marL="342900" indent="-342900">
              <a:buFont typeface="Arial" panose="020B0604020202020204" pitchFamily="34" charset="0"/>
              <a:buChar char="•"/>
            </a:pPr>
            <a:r>
              <a:rPr lang="en-US" dirty="0"/>
              <a:t>Any changes for Drive 10’s SLS function blocks shall be done in the Multi </a:t>
            </a:r>
            <a:r>
              <a:rPr lang="en-US" dirty="0" err="1"/>
              <a:t>settings.sms</a:t>
            </a:r>
            <a:r>
              <a:rPr lang="en-US" dirty="0"/>
              <a:t> file.</a:t>
            </a:r>
            <a:br>
              <a:rPr lang="en-US" dirty="0"/>
            </a:br>
            <a:endParaRPr lang="en-US" dirty="0"/>
          </a:p>
          <a:p>
            <a:pPr marL="342900" indent="-342900">
              <a:buFont typeface="Arial" panose="020B0604020202020204" pitchFamily="34" charset="0"/>
              <a:buChar char="•"/>
            </a:pPr>
            <a:r>
              <a:rPr lang="en-US" dirty="0"/>
              <a:t>The dropdown is for changing views of online data between drives. </a:t>
            </a:r>
          </a:p>
          <a:p>
            <a:pPr marL="800100" lvl="1" indent="-342900">
              <a:buFont typeface="Arial" panose="020B0604020202020204" pitchFamily="34" charset="0"/>
              <a:buChar char="•"/>
            </a:pPr>
            <a:r>
              <a:rPr lang="en-US" dirty="0"/>
              <a:t>It is the only way to view Drive 10’s</a:t>
            </a:r>
            <a:br>
              <a:rPr lang="en-US" dirty="0"/>
            </a:br>
            <a:r>
              <a:rPr lang="en-US" dirty="0"/>
              <a:t>online data.</a:t>
            </a:r>
          </a:p>
        </p:txBody>
      </p:sp>
      <p:pic>
        <p:nvPicPr>
          <p:cNvPr id="9" name="Picture 8">
            <a:extLst>
              <a:ext uri="{FF2B5EF4-FFF2-40B4-BE49-F238E27FC236}">
                <a16:creationId xmlns:a16="http://schemas.microsoft.com/office/drawing/2014/main" id="{53BC21C9-1E1F-F19D-B355-FD751C992349}"/>
              </a:ext>
            </a:extLst>
          </p:cNvPr>
          <p:cNvPicPr>
            <a:picLocks noChangeAspect="1"/>
          </p:cNvPicPr>
          <p:nvPr/>
        </p:nvPicPr>
        <p:blipFill>
          <a:blip r:embed="rId2"/>
          <a:stretch>
            <a:fillRect/>
          </a:stretch>
        </p:blipFill>
        <p:spPr>
          <a:xfrm>
            <a:off x="6727947" y="1706971"/>
            <a:ext cx="2195902" cy="1598549"/>
          </a:xfrm>
          <a:prstGeom prst="rect">
            <a:avLst/>
          </a:prstGeom>
        </p:spPr>
      </p:pic>
      <p:pic>
        <p:nvPicPr>
          <p:cNvPr id="10" name="Picture 9">
            <a:extLst>
              <a:ext uri="{FF2B5EF4-FFF2-40B4-BE49-F238E27FC236}">
                <a16:creationId xmlns:a16="http://schemas.microsoft.com/office/drawing/2014/main" id="{93B3F234-35A9-30E9-E930-17DCE67C057C}"/>
              </a:ext>
            </a:extLst>
          </p:cNvPr>
          <p:cNvPicPr>
            <a:picLocks noChangeAspect="1"/>
          </p:cNvPicPr>
          <p:nvPr/>
        </p:nvPicPr>
        <p:blipFill>
          <a:blip r:embed="rId3"/>
          <a:stretch>
            <a:fillRect/>
          </a:stretch>
        </p:blipFill>
        <p:spPr>
          <a:xfrm>
            <a:off x="8991600" y="1596685"/>
            <a:ext cx="1914525" cy="1704975"/>
          </a:xfrm>
          <a:prstGeom prst="rect">
            <a:avLst/>
          </a:prstGeom>
        </p:spPr>
      </p:pic>
      <p:sp>
        <p:nvSpPr>
          <p:cNvPr id="11" name="Rectangle 10">
            <a:extLst>
              <a:ext uri="{FF2B5EF4-FFF2-40B4-BE49-F238E27FC236}">
                <a16:creationId xmlns:a16="http://schemas.microsoft.com/office/drawing/2014/main" id="{B77A8F0E-B1EB-E7F2-5BD1-203E6030702C}"/>
              </a:ext>
            </a:extLst>
          </p:cNvPr>
          <p:cNvSpPr/>
          <p:nvPr/>
        </p:nvSpPr>
        <p:spPr>
          <a:xfrm>
            <a:off x="6795697" y="2709273"/>
            <a:ext cx="4110427" cy="295036"/>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4" name="Picture 13">
            <a:extLst>
              <a:ext uri="{FF2B5EF4-FFF2-40B4-BE49-F238E27FC236}">
                <a16:creationId xmlns:a16="http://schemas.microsoft.com/office/drawing/2014/main" id="{42EBF763-4E42-8A6D-3AA4-12F87AC9C89F}"/>
              </a:ext>
            </a:extLst>
          </p:cNvPr>
          <p:cNvPicPr>
            <a:picLocks noChangeAspect="1"/>
          </p:cNvPicPr>
          <p:nvPr/>
        </p:nvPicPr>
        <p:blipFill>
          <a:blip r:embed="rId4"/>
          <a:stretch>
            <a:fillRect/>
          </a:stretch>
        </p:blipFill>
        <p:spPr>
          <a:xfrm>
            <a:off x="5015025" y="3596865"/>
            <a:ext cx="7129264" cy="2819400"/>
          </a:xfrm>
          <a:prstGeom prst="rect">
            <a:avLst/>
          </a:prstGeom>
        </p:spPr>
      </p:pic>
      <p:sp>
        <p:nvSpPr>
          <p:cNvPr id="15" name="Rectangle 14">
            <a:extLst>
              <a:ext uri="{FF2B5EF4-FFF2-40B4-BE49-F238E27FC236}">
                <a16:creationId xmlns:a16="http://schemas.microsoft.com/office/drawing/2014/main" id="{6489B045-AC87-A1B5-438B-992E48661FF2}"/>
              </a:ext>
            </a:extLst>
          </p:cNvPr>
          <p:cNvSpPr/>
          <p:nvPr/>
        </p:nvSpPr>
        <p:spPr>
          <a:xfrm>
            <a:off x="10534564" y="5542183"/>
            <a:ext cx="910027" cy="774710"/>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16" name="Rectangle 15">
            <a:extLst>
              <a:ext uri="{FF2B5EF4-FFF2-40B4-BE49-F238E27FC236}">
                <a16:creationId xmlns:a16="http://schemas.microsoft.com/office/drawing/2014/main" id="{AD679201-F4EA-8AD2-9AC8-899D37EDD4AA}"/>
              </a:ext>
            </a:extLst>
          </p:cNvPr>
          <p:cNvSpPr/>
          <p:nvPr/>
        </p:nvSpPr>
        <p:spPr>
          <a:xfrm>
            <a:off x="5505364" y="5225984"/>
            <a:ext cx="1600200" cy="533399"/>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7" name="Picture 16">
            <a:extLst>
              <a:ext uri="{FF2B5EF4-FFF2-40B4-BE49-F238E27FC236}">
                <a16:creationId xmlns:a16="http://schemas.microsoft.com/office/drawing/2014/main" id="{074C3115-D3A8-8A2E-7734-7A5B1042632A}"/>
              </a:ext>
            </a:extLst>
          </p:cNvPr>
          <p:cNvPicPr>
            <a:picLocks noChangeAspect="1"/>
          </p:cNvPicPr>
          <p:nvPr/>
        </p:nvPicPr>
        <p:blipFill>
          <a:blip r:embed="rId5"/>
          <a:stretch>
            <a:fillRect/>
          </a:stretch>
        </p:blipFill>
        <p:spPr>
          <a:xfrm>
            <a:off x="47711" y="4375296"/>
            <a:ext cx="4522983" cy="1421045"/>
          </a:xfrm>
          <a:prstGeom prst="rect">
            <a:avLst/>
          </a:prstGeom>
        </p:spPr>
      </p:pic>
      <p:sp>
        <p:nvSpPr>
          <p:cNvPr id="18" name="Rectangle 17">
            <a:extLst>
              <a:ext uri="{FF2B5EF4-FFF2-40B4-BE49-F238E27FC236}">
                <a16:creationId xmlns:a16="http://schemas.microsoft.com/office/drawing/2014/main" id="{5FDC51C7-4186-FEB8-420B-299A067B57BF}"/>
              </a:ext>
            </a:extLst>
          </p:cNvPr>
          <p:cNvSpPr/>
          <p:nvPr/>
        </p:nvSpPr>
        <p:spPr>
          <a:xfrm>
            <a:off x="2665500" y="5111684"/>
            <a:ext cx="1830300" cy="603316"/>
          </a:xfrm>
          <a:prstGeom prst="rect">
            <a:avLst/>
          </a:prstGeom>
          <a:noFill/>
          <a:ln w="3810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34290875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Moving on with the testing of SLS.</a:t>
            </a:r>
          </a:p>
          <a:p>
            <a:pPr marL="342900" indent="-342900">
              <a:buFont typeface="Arial" panose="020B0604020202020204" pitchFamily="34" charset="0"/>
              <a:buChar char="•"/>
            </a:pPr>
            <a:r>
              <a:rPr lang="en-US" dirty="0"/>
              <a:t>Navigate to Axis 1 in the NC and set the Enable</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6" name="Picture 5">
            <a:extLst>
              <a:ext uri="{FF2B5EF4-FFF2-40B4-BE49-F238E27FC236}">
                <a16:creationId xmlns:a16="http://schemas.microsoft.com/office/drawing/2014/main" id="{079C3D55-56B7-B7EC-D526-BE1E9014DEA9}"/>
              </a:ext>
            </a:extLst>
          </p:cNvPr>
          <p:cNvPicPr>
            <a:picLocks noChangeAspect="1"/>
          </p:cNvPicPr>
          <p:nvPr/>
        </p:nvPicPr>
        <p:blipFill>
          <a:blip r:embed="rId2"/>
          <a:stretch>
            <a:fillRect/>
          </a:stretch>
        </p:blipFill>
        <p:spPr>
          <a:xfrm>
            <a:off x="685800" y="2357034"/>
            <a:ext cx="9572625" cy="3381375"/>
          </a:xfrm>
          <a:prstGeom prst="rect">
            <a:avLst/>
          </a:prstGeom>
        </p:spPr>
      </p:pic>
      <p:sp>
        <p:nvSpPr>
          <p:cNvPr id="7" name="Rectangle 6">
            <a:extLst>
              <a:ext uri="{FF2B5EF4-FFF2-40B4-BE49-F238E27FC236}">
                <a16:creationId xmlns:a16="http://schemas.microsoft.com/office/drawing/2014/main" id="{B9D20D86-AEE6-85AA-CB5B-2523540CE0FD}"/>
              </a:ext>
            </a:extLst>
          </p:cNvPr>
          <p:cNvSpPr/>
          <p:nvPr/>
        </p:nvSpPr>
        <p:spPr>
          <a:xfrm>
            <a:off x="8229600" y="4314234"/>
            <a:ext cx="1676400" cy="943565"/>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
        <p:nvSpPr>
          <p:cNvPr id="8" name="Rectangle 7">
            <a:extLst>
              <a:ext uri="{FF2B5EF4-FFF2-40B4-BE49-F238E27FC236}">
                <a16:creationId xmlns:a16="http://schemas.microsoft.com/office/drawing/2014/main" id="{657552AD-73C0-C8BD-DD30-BDE5BD425D35}"/>
              </a:ext>
            </a:extLst>
          </p:cNvPr>
          <p:cNvSpPr/>
          <p:nvPr/>
        </p:nvSpPr>
        <p:spPr>
          <a:xfrm>
            <a:off x="1371600" y="5029201"/>
            <a:ext cx="1371600" cy="533400"/>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2987894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Navigate to the Functions tab for Axis 1</a:t>
            </a:r>
          </a:p>
          <a:p>
            <a:pPr marL="695700" lvl="1" indent="-342900">
              <a:buFont typeface="Arial" panose="020B0604020202020204" pitchFamily="34" charset="0"/>
              <a:buChar char="•"/>
            </a:pPr>
            <a:r>
              <a:rPr lang="en-US" dirty="0"/>
              <a:t>Set the Start mode to Endless +</a:t>
            </a:r>
          </a:p>
          <a:p>
            <a:pPr marL="695700" lvl="1" indent="-342900">
              <a:buFont typeface="Arial" panose="020B0604020202020204" pitchFamily="34" charset="0"/>
              <a:buChar char="•"/>
            </a:pPr>
            <a:r>
              <a:rPr lang="en-US" dirty="0"/>
              <a:t>Set the Target Velocity to 11</a:t>
            </a:r>
          </a:p>
          <a:p>
            <a:pPr marL="695700" lvl="1" indent="-342900">
              <a:buFont typeface="Arial" panose="020B0604020202020204" pitchFamily="34" charset="0"/>
              <a:buChar char="•"/>
            </a:pPr>
            <a:r>
              <a:rPr lang="en-US" dirty="0"/>
              <a:t>Press start</a:t>
            </a:r>
          </a:p>
          <a:p>
            <a:pPr marL="695700" lvl="1" indent="-342900">
              <a:buFont typeface="Arial" panose="020B0604020202020204" pitchFamily="34" charset="0"/>
              <a:buChar char="•"/>
            </a:pPr>
            <a:r>
              <a:rPr lang="en-US" dirty="0"/>
              <a:t>Should run smoothly when the </a:t>
            </a:r>
            <a:r>
              <a:rPr lang="en-US" dirty="0" err="1"/>
              <a:t>xSafetySLS</a:t>
            </a:r>
            <a:r>
              <a:rPr lang="en-US" dirty="0"/>
              <a:t> PLC bit is turned to TRUE</a:t>
            </a:r>
          </a:p>
          <a:p>
            <a:pPr marL="695700" lvl="1" indent="-342900">
              <a:buFont typeface="Arial" panose="020B0604020202020204" pitchFamily="34" charset="0"/>
              <a:buChar char="•"/>
            </a:pPr>
            <a:r>
              <a:rPr lang="en-US" dirty="0"/>
              <a:t>Press the Stop button in the Functions tab</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10" name="Picture 9">
            <a:extLst>
              <a:ext uri="{FF2B5EF4-FFF2-40B4-BE49-F238E27FC236}">
                <a16:creationId xmlns:a16="http://schemas.microsoft.com/office/drawing/2014/main" id="{5804882F-3BE6-B47B-2B28-5EDD2CA9348B}"/>
              </a:ext>
            </a:extLst>
          </p:cNvPr>
          <p:cNvPicPr>
            <a:picLocks noChangeAspect="1"/>
          </p:cNvPicPr>
          <p:nvPr/>
        </p:nvPicPr>
        <p:blipFill>
          <a:blip r:embed="rId2"/>
          <a:stretch>
            <a:fillRect/>
          </a:stretch>
        </p:blipFill>
        <p:spPr>
          <a:xfrm>
            <a:off x="1524000" y="4014787"/>
            <a:ext cx="6143625" cy="2181225"/>
          </a:xfrm>
          <a:prstGeom prst="rect">
            <a:avLst/>
          </a:prstGeom>
        </p:spPr>
      </p:pic>
      <p:sp>
        <p:nvSpPr>
          <p:cNvPr id="7" name="Rectangle 6">
            <a:extLst>
              <a:ext uri="{FF2B5EF4-FFF2-40B4-BE49-F238E27FC236}">
                <a16:creationId xmlns:a16="http://schemas.microsoft.com/office/drawing/2014/main" id="{B9D20D86-AEE6-85AA-CB5B-2523540CE0FD}"/>
              </a:ext>
            </a:extLst>
          </p:cNvPr>
          <p:cNvSpPr/>
          <p:nvPr/>
        </p:nvSpPr>
        <p:spPr>
          <a:xfrm>
            <a:off x="1914088" y="5340991"/>
            <a:ext cx="5486400" cy="755009"/>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12" name="Picture 11">
            <a:extLst>
              <a:ext uri="{FF2B5EF4-FFF2-40B4-BE49-F238E27FC236}">
                <a16:creationId xmlns:a16="http://schemas.microsoft.com/office/drawing/2014/main" id="{101C3ED0-C9C3-413B-921B-D060DE8CBD60}"/>
              </a:ext>
            </a:extLst>
          </p:cNvPr>
          <p:cNvPicPr>
            <a:picLocks noChangeAspect="1"/>
          </p:cNvPicPr>
          <p:nvPr/>
        </p:nvPicPr>
        <p:blipFill>
          <a:blip r:embed="rId3"/>
          <a:stretch>
            <a:fillRect/>
          </a:stretch>
        </p:blipFill>
        <p:spPr>
          <a:xfrm>
            <a:off x="6781800" y="1219200"/>
            <a:ext cx="3889439" cy="1277237"/>
          </a:xfrm>
          <a:prstGeom prst="rect">
            <a:avLst/>
          </a:prstGeom>
        </p:spPr>
      </p:pic>
      <p:sp>
        <p:nvSpPr>
          <p:cNvPr id="3" name="Rectangle 2">
            <a:extLst>
              <a:ext uri="{FF2B5EF4-FFF2-40B4-BE49-F238E27FC236}">
                <a16:creationId xmlns:a16="http://schemas.microsoft.com/office/drawing/2014/main" id="{B513A427-CA21-4772-085F-BCE7763F984B}"/>
              </a:ext>
            </a:extLst>
          </p:cNvPr>
          <p:cNvSpPr/>
          <p:nvPr/>
        </p:nvSpPr>
        <p:spPr>
          <a:xfrm>
            <a:off x="6858000" y="2219173"/>
            <a:ext cx="2819400" cy="187186"/>
          </a:xfrm>
          <a:prstGeom prst="rect">
            <a:avLst/>
          </a:prstGeom>
          <a:noFill/>
          <a:ln w="2857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spTree>
    <p:extLst>
      <p:ext uri="{BB962C8B-B14F-4D97-AF65-F5344CB8AC3E}">
        <p14:creationId xmlns:p14="http://schemas.microsoft.com/office/powerpoint/2010/main" val="16373509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BD0522-ADBA-E5D7-7DF4-9EA929FDC018}"/>
              </a:ext>
            </a:extLst>
          </p:cNvPr>
          <p:cNvSpPr>
            <a:spLocks noGrp="1"/>
          </p:cNvSpPr>
          <p:nvPr>
            <p:ph type="title"/>
          </p:nvPr>
        </p:nvSpPr>
        <p:spPr/>
        <p:txBody>
          <a:bodyPr/>
          <a:lstStyle/>
          <a:p>
            <a:r>
              <a:rPr lang="de-DE" dirty="0"/>
              <a:t>Multisettings Training Lab</a:t>
            </a:r>
            <a:endParaRPr lang="en-US" dirty="0"/>
          </a:p>
        </p:txBody>
      </p:sp>
      <p:sp>
        <p:nvSpPr>
          <p:cNvPr id="2" name="Text Placeholder 3">
            <a:extLst>
              <a:ext uri="{FF2B5EF4-FFF2-40B4-BE49-F238E27FC236}">
                <a16:creationId xmlns:a16="http://schemas.microsoft.com/office/drawing/2014/main" id="{9F2730E1-9BEF-0320-460C-12E48ACBAAD5}"/>
              </a:ext>
            </a:extLst>
          </p:cNvPr>
          <p:cNvSpPr txBox="1">
            <a:spLocks/>
          </p:cNvSpPr>
          <p:nvPr/>
        </p:nvSpPr>
        <p:spPr bwMode="gray">
          <a:xfrm>
            <a:off x="-155400" y="1080154"/>
            <a:ext cx="10975800" cy="2338201"/>
          </a:xfrm>
          <a:prstGeom prst="rect">
            <a:avLst/>
          </a:prstGeom>
        </p:spPr>
        <p:txBody>
          <a:bodyPr vert="horz" lIns="450000" tIns="190800" rIns="91440" bIns="45720" rtlCol="0">
            <a:noAutofit/>
          </a:bodyPr>
          <a:lstStyle>
            <a:lvl1pPr marL="630000" marR="0" indent="-630000" algn="l" defTabSz="914400" rtl="0" eaLnBrk="1" fontAlgn="auto" latinLnBrk="0" hangingPunct="1">
              <a:lnSpc>
                <a:spcPct val="100000"/>
              </a:lnSpc>
              <a:spcBef>
                <a:spcPts val="600"/>
              </a:spcBef>
              <a:spcAft>
                <a:spcPts val="0"/>
              </a:spcAft>
              <a:buClrTx/>
              <a:buSzTx/>
              <a:buFont typeface="+mj-lt"/>
              <a:buAutoNum type="arabicPeriod"/>
              <a:tabLst/>
              <a:defRPr sz="2200" b="0" kern="1200" baseline="0">
                <a:solidFill>
                  <a:schemeClr val="tx1"/>
                </a:solidFill>
                <a:latin typeface="+mj-lt"/>
                <a:ea typeface="+mn-ea"/>
                <a:cs typeface="Arial" pitchFamily="34" charset="0"/>
              </a:defRPr>
            </a:lvl1pPr>
            <a:lvl2pPr marL="982800" marR="0" indent="-2700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1342800" marR="0" indent="-266400" algn="l" defTabSz="914400" rtl="0" eaLnBrk="1" fontAlgn="auto" latinLnBrk="0" hangingPunct="1">
              <a:lnSpc>
                <a:spcPct val="100000"/>
              </a:lnSpc>
              <a:spcBef>
                <a:spcPts val="600"/>
              </a:spcBef>
              <a:spcAft>
                <a:spcPts val="0"/>
              </a:spcAft>
              <a:buClrTx/>
              <a:buSzTx/>
              <a:buFont typeface="Symbol" panose="05050102010706020507" pitchFamily="18" charset="2"/>
              <a:buChar char="-"/>
              <a:tabLst/>
              <a:defRPr sz="2200" kern="1200">
                <a:solidFill>
                  <a:schemeClr val="tx1"/>
                </a:solidFill>
                <a:latin typeface="+mj-lt"/>
                <a:ea typeface="+mn-ea"/>
                <a:cs typeface="Arial" pitchFamily="34" charset="0"/>
              </a:defRPr>
            </a:lvl3pPr>
            <a:lvl4pPr marL="1699200" marR="0" indent="-2664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2059200"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a:lstStyle>
          <a:p>
            <a:pPr marL="342900" indent="-342900">
              <a:buFont typeface="Arial" panose="020B0604020202020204" pitchFamily="34" charset="0"/>
              <a:buChar char="•"/>
            </a:pPr>
            <a:r>
              <a:rPr lang="en-US" dirty="0"/>
              <a:t>Toggle the </a:t>
            </a:r>
            <a:r>
              <a:rPr lang="en-US" dirty="0" err="1"/>
              <a:t>xSafetySLS</a:t>
            </a:r>
            <a:r>
              <a:rPr lang="en-US" dirty="0"/>
              <a:t> PLC variable to FALSE.</a:t>
            </a:r>
          </a:p>
          <a:p>
            <a:pPr marL="342900" indent="-342900">
              <a:buFont typeface="Arial" panose="020B0604020202020204" pitchFamily="34" charset="0"/>
              <a:buChar char="•"/>
            </a:pPr>
            <a:r>
              <a:rPr lang="en-US" dirty="0"/>
              <a:t>Go back into the Functions tab for Axis 1</a:t>
            </a:r>
          </a:p>
          <a:p>
            <a:pPr marL="342900" indent="-342900">
              <a:buFont typeface="Arial" panose="020B0604020202020204" pitchFamily="34" charset="0"/>
              <a:buChar char="•"/>
            </a:pPr>
            <a:r>
              <a:rPr lang="en-US" dirty="0"/>
              <a:t>With the same settings (Endless + and Target velocity = 11)</a:t>
            </a:r>
          </a:p>
          <a:p>
            <a:pPr marL="695700" lvl="1" indent="-342900">
              <a:buFont typeface="Arial" panose="020B0604020202020204" pitchFamily="34" charset="0"/>
              <a:buChar char="•"/>
            </a:pPr>
            <a:r>
              <a:rPr lang="en-US" dirty="0"/>
              <a:t>Press Start</a:t>
            </a:r>
          </a:p>
          <a:p>
            <a:pPr marL="695700" lvl="1" indent="-342900">
              <a:buFont typeface="Arial" panose="020B0604020202020204" pitchFamily="34" charset="0"/>
              <a:buChar char="•"/>
            </a:pPr>
            <a:r>
              <a:rPr lang="en-US" dirty="0"/>
              <a:t>Axis should immediately STO </a:t>
            </a:r>
          </a:p>
          <a:p>
            <a:pPr marL="1055700" lvl="2" indent="-342900">
              <a:buFont typeface="Arial" panose="020B0604020202020204" pitchFamily="34" charset="0"/>
              <a:buChar char="•"/>
            </a:pPr>
            <a:r>
              <a:rPr lang="en-US" dirty="0"/>
              <a:t>This is due to the velocity being higher than our configured SLS of 10mm/s </a:t>
            </a:r>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695700" lvl="1" indent="-342900">
              <a:buFont typeface="Arial" panose="020B0604020202020204" pitchFamily="34" charset="0"/>
              <a:buChar char="•"/>
            </a:pPr>
            <a:endParaRPr lang="en-US" dirty="0"/>
          </a:p>
          <a:p>
            <a:pPr marL="0" indent="0">
              <a:buFont typeface="+mj-lt"/>
              <a:buNone/>
            </a:pPr>
            <a:endParaRPr lang="en-US" b="1" dirty="0"/>
          </a:p>
        </p:txBody>
      </p:sp>
      <p:pic>
        <p:nvPicPr>
          <p:cNvPr id="10" name="Picture 9">
            <a:extLst>
              <a:ext uri="{FF2B5EF4-FFF2-40B4-BE49-F238E27FC236}">
                <a16:creationId xmlns:a16="http://schemas.microsoft.com/office/drawing/2014/main" id="{5804882F-3BE6-B47B-2B28-5EDD2CA9348B}"/>
              </a:ext>
            </a:extLst>
          </p:cNvPr>
          <p:cNvPicPr>
            <a:picLocks noChangeAspect="1"/>
          </p:cNvPicPr>
          <p:nvPr/>
        </p:nvPicPr>
        <p:blipFill>
          <a:blip r:embed="rId2"/>
          <a:stretch>
            <a:fillRect/>
          </a:stretch>
        </p:blipFill>
        <p:spPr>
          <a:xfrm>
            <a:off x="1524000" y="3733800"/>
            <a:ext cx="6143625" cy="2181225"/>
          </a:xfrm>
          <a:prstGeom prst="rect">
            <a:avLst/>
          </a:prstGeom>
        </p:spPr>
      </p:pic>
      <p:sp>
        <p:nvSpPr>
          <p:cNvPr id="7" name="Rectangle 6">
            <a:extLst>
              <a:ext uri="{FF2B5EF4-FFF2-40B4-BE49-F238E27FC236}">
                <a16:creationId xmlns:a16="http://schemas.microsoft.com/office/drawing/2014/main" id="{B9D20D86-AEE6-85AA-CB5B-2523540CE0FD}"/>
              </a:ext>
            </a:extLst>
          </p:cNvPr>
          <p:cNvSpPr/>
          <p:nvPr/>
        </p:nvSpPr>
        <p:spPr>
          <a:xfrm>
            <a:off x="1905000" y="5105400"/>
            <a:ext cx="5486400" cy="714965"/>
          </a:xfrm>
          <a:prstGeom prst="rect">
            <a:avLst/>
          </a:prstGeom>
          <a:noFill/>
          <a:ln w="19050">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en-US" sz="1800" kern="1200" baseline="0" dirty="0">
              <a:solidFill>
                <a:schemeClr val="tx1"/>
              </a:solidFill>
              <a:latin typeface="+mj-lt"/>
              <a:ea typeface="+mn-ea"/>
              <a:cs typeface="Arial" pitchFamily="34" charset="0"/>
            </a:endParaRPr>
          </a:p>
        </p:txBody>
      </p:sp>
      <p:pic>
        <p:nvPicPr>
          <p:cNvPr id="4" name="Picture 3">
            <a:extLst>
              <a:ext uri="{FF2B5EF4-FFF2-40B4-BE49-F238E27FC236}">
                <a16:creationId xmlns:a16="http://schemas.microsoft.com/office/drawing/2014/main" id="{4268CA81-EA0E-48D2-4ACF-065F7E67DC13}"/>
              </a:ext>
            </a:extLst>
          </p:cNvPr>
          <p:cNvPicPr>
            <a:picLocks noChangeAspect="1"/>
          </p:cNvPicPr>
          <p:nvPr/>
        </p:nvPicPr>
        <p:blipFill>
          <a:blip r:embed="rId3"/>
          <a:stretch>
            <a:fillRect/>
          </a:stretch>
        </p:blipFill>
        <p:spPr>
          <a:xfrm>
            <a:off x="8153400" y="1206887"/>
            <a:ext cx="3254841" cy="1047261"/>
          </a:xfrm>
          <a:prstGeom prst="rect">
            <a:avLst/>
          </a:prstGeom>
        </p:spPr>
      </p:pic>
    </p:spTree>
    <p:extLst>
      <p:ext uri="{BB962C8B-B14F-4D97-AF65-F5344CB8AC3E}">
        <p14:creationId xmlns:p14="http://schemas.microsoft.com/office/powerpoint/2010/main" val="12683278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0555B99-3B48-7865-9A9A-2AC588776FEC}"/>
              </a:ext>
            </a:extLst>
          </p:cNvPr>
          <p:cNvSpPr>
            <a:spLocks noGrp="1"/>
          </p:cNvSpPr>
          <p:nvPr>
            <p:ph type="body" sz="quarter" idx="15"/>
          </p:nvPr>
        </p:nvSpPr>
        <p:spPr>
          <a:xfrm>
            <a:off x="-552" y="1080154"/>
            <a:ext cx="6248396" cy="4253846"/>
          </a:xfrm>
        </p:spPr>
        <p:txBody>
          <a:bodyPr/>
          <a:lstStyle/>
          <a:p>
            <a:pPr marL="0" indent="0">
              <a:buNone/>
            </a:pPr>
            <a:r>
              <a:rPr lang="en-US" b="1" dirty="0"/>
              <a:t>Summary: </a:t>
            </a:r>
          </a:p>
          <a:p>
            <a:pPr marL="342900" indent="-342900">
              <a:buFont typeface="Arial" panose="020B0604020202020204" pitchFamily="34" charset="0"/>
              <a:buChar char="•"/>
            </a:pPr>
            <a:r>
              <a:rPr lang="en-US" dirty="0" err="1"/>
              <a:t>SafeMotionWizard’s</a:t>
            </a:r>
            <a:r>
              <a:rPr lang="en-US" dirty="0"/>
              <a:t> Multi Settings allows the user the ability to configure multiple drives/motors at the same time.</a:t>
            </a:r>
          </a:p>
          <a:p>
            <a:pPr marL="342900" indent="-342900">
              <a:buFont typeface="Arial" panose="020B0604020202020204" pitchFamily="34" charset="0"/>
              <a:buChar char="•"/>
            </a:pPr>
            <a:r>
              <a:rPr lang="en-US" dirty="0"/>
              <a:t>Simplifies, expedites and points the users in the right direction to help setup their safety application</a:t>
            </a:r>
          </a:p>
          <a:p>
            <a:pPr marL="342900" indent="-342900">
              <a:buFont typeface="Arial" panose="020B0604020202020204" pitchFamily="34" charset="0"/>
              <a:buChar char="•"/>
            </a:pPr>
            <a:r>
              <a:rPr lang="en-US" dirty="0"/>
              <a:t>Simplifies development with less safety projects being needed. Instead utilizing one single file for duplicating projects with the ability to alter parameters.</a:t>
            </a:r>
          </a:p>
          <a:p>
            <a:pPr marL="0" indent="0">
              <a:buNone/>
            </a:pPr>
            <a:endParaRPr lang="en-US" b="1" dirty="0">
              <a:solidFill>
                <a:srgbClr val="FF0000"/>
              </a:solidFill>
            </a:endParaRPr>
          </a:p>
        </p:txBody>
      </p:sp>
      <p:sp>
        <p:nvSpPr>
          <p:cNvPr id="5" name="Title 4">
            <a:extLst>
              <a:ext uri="{FF2B5EF4-FFF2-40B4-BE49-F238E27FC236}">
                <a16:creationId xmlns:a16="http://schemas.microsoft.com/office/drawing/2014/main" id="{0280D4AF-65F5-75EC-D4B4-FE546D90F669}"/>
              </a:ext>
            </a:extLst>
          </p:cNvPr>
          <p:cNvSpPr>
            <a:spLocks noGrp="1"/>
          </p:cNvSpPr>
          <p:nvPr>
            <p:ph type="title"/>
          </p:nvPr>
        </p:nvSpPr>
        <p:spPr/>
        <p:txBody>
          <a:bodyPr/>
          <a:lstStyle/>
          <a:p>
            <a:r>
              <a:rPr lang="de-DE" dirty="0"/>
              <a:t>Multisettings Training Lab</a:t>
            </a:r>
            <a:endParaRPr lang="en-US" dirty="0"/>
          </a:p>
        </p:txBody>
      </p:sp>
      <p:pic>
        <p:nvPicPr>
          <p:cNvPr id="3" name="Picture 2">
            <a:extLst>
              <a:ext uri="{FF2B5EF4-FFF2-40B4-BE49-F238E27FC236}">
                <a16:creationId xmlns:a16="http://schemas.microsoft.com/office/drawing/2014/main" id="{9A64CB4A-129D-57F8-249F-E7B6E258DBC9}"/>
              </a:ext>
            </a:extLst>
          </p:cNvPr>
          <p:cNvPicPr>
            <a:picLocks noChangeAspect="1"/>
          </p:cNvPicPr>
          <p:nvPr/>
        </p:nvPicPr>
        <p:blipFill>
          <a:blip r:embed="rId2"/>
          <a:stretch>
            <a:fillRect/>
          </a:stretch>
        </p:blipFill>
        <p:spPr>
          <a:xfrm>
            <a:off x="6029325" y="3581400"/>
            <a:ext cx="6162675" cy="3276600"/>
          </a:xfrm>
          <a:prstGeom prst="rect">
            <a:avLst/>
          </a:prstGeom>
        </p:spPr>
      </p:pic>
    </p:spTree>
    <p:extLst>
      <p:ext uri="{BB962C8B-B14F-4D97-AF65-F5344CB8AC3E}">
        <p14:creationId xmlns:p14="http://schemas.microsoft.com/office/powerpoint/2010/main" val="29920748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äsentation1" id="{3414D71D-22CF-4FF3-9B19-2D74093ED22C}" vid="{B36457BF-010A-4992-888B-A87F643354E0}"/>
    </a:ext>
  </a:extLst>
</a:theme>
</file>

<file path=ppt/theme/theme2.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3230</TotalTime>
  <Words>2504</Words>
  <Application>Microsoft Office PowerPoint</Application>
  <PresentationFormat>Widescreen</PresentationFormat>
  <Paragraphs>755</Paragraphs>
  <Slides>69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Arial</vt:lpstr>
      <vt:lpstr>Calibri</vt:lpstr>
      <vt:lpstr>Symbol</vt:lpstr>
      <vt:lpstr>Wingdings</vt:lpstr>
      <vt:lpstr>Beckhoff Slide Master</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lpstr>Multisettings Training Lab</vt:lpstr>
    </vt:vector>
  </TitlesOfParts>
  <Company>Beckhoff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Project Train the Trainer Event</dc:title>
  <dc:creator>Matt Prellwitz</dc:creator>
  <cp:keywords/>
  <cp:lastModifiedBy>Charles Zmuda</cp:lastModifiedBy>
  <cp:revision>34</cp:revision>
  <cp:lastPrinted>2016-06-28T12:26:43Z</cp:lastPrinted>
  <dcterms:created xsi:type="dcterms:W3CDTF">2022-12-12T16:10:48Z</dcterms:created>
  <dcterms:modified xsi:type="dcterms:W3CDTF">2023-03-14T14:34:17Z</dcterms:modified>
</cp:coreProperties>
</file>